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latin typeface="Arial"/>
                <a:ea typeface="Arial"/>
                <a:cs typeface="Aria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1B2D"/>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40080" y="914400"/>
            <a:ext cx="640080" cy="640080"/>
          </a:xfrm>
          <a:prstGeom prst="ellipse">
            <a:avLst/>
          </a:prstGeom>
          <a:solidFill>
            <a:srgbClr val="FF9900"/>
          </a:solidFill>
          <a:ln/>
        </p:spPr>
      </p:sp>
      <p:sp>
        <p:nvSpPr>
          <p:cNvPr id="3" name="Text 1"/>
          <p:cNvSpPr txBox="1"/>
          <p:nvPr/>
        </p:nvSpPr>
        <p:spPr>
          <a:xfrm>
            <a:off x="640080" y="914400"/>
            <a:ext cx="640080" cy="640080"/>
          </a:xfrm>
          <a:prstGeom prst="rect">
            <a:avLst/>
          </a:prstGeom>
          <a:noFill/>
          <a:ln/>
        </p:spPr>
        <p:txBody>
          <a:bodyPr wrap="square" lIns="0" tIns="0" rIns="0" bIns="0" rtlCol="0" anchor="ctr"/>
          <a:lstStyle/>
          <a:p>
            <a:pPr algn="ctr" indent="0" marL="0">
              <a:buNone/>
            </a:pPr>
            <a:r>
              <a:rPr lang="en-US" sz="1600" b="1" dirty="0">
                <a:solidFill>
                  <a:srgbClr val="0F1B2D"/>
                </a:solidFill>
                <a:latin typeface="Arial" pitchFamily="34" charset="0"/>
                <a:ea typeface="Arial" pitchFamily="34" charset="-122"/>
                <a:cs typeface="Arial" pitchFamily="34" charset="-120"/>
              </a:rPr>
              <a:t>Q1</a:t>
            </a:r>
            <a:endParaRPr lang="en-US" sz="1600" dirty="0"/>
          </a:p>
        </p:txBody>
      </p:sp>
      <p:sp>
        <p:nvSpPr>
          <p:cNvPr id="4" name="Shape 2"/>
          <p:cNvSpPr/>
          <p:nvPr/>
        </p:nvSpPr>
        <p:spPr>
          <a:xfrm>
            <a:off x="1417320" y="914400"/>
            <a:ext cx="640080" cy="640080"/>
          </a:xfrm>
          <a:prstGeom prst="ellipse">
            <a:avLst/>
          </a:prstGeom>
          <a:solidFill>
            <a:srgbClr val="0E7C7B"/>
          </a:solidFill>
          <a:ln/>
        </p:spPr>
      </p:sp>
      <p:sp>
        <p:nvSpPr>
          <p:cNvPr id="5" name="Text 3"/>
          <p:cNvSpPr txBox="1"/>
          <p:nvPr/>
        </p:nvSpPr>
        <p:spPr>
          <a:xfrm>
            <a:off x="1417320" y="9144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Q2</a:t>
            </a:r>
            <a:endParaRPr lang="en-US" sz="1600" dirty="0"/>
          </a:p>
        </p:txBody>
      </p:sp>
      <p:sp>
        <p:nvSpPr>
          <p:cNvPr id="6" name="Shape 4"/>
          <p:cNvSpPr/>
          <p:nvPr/>
        </p:nvSpPr>
        <p:spPr>
          <a:xfrm>
            <a:off x="2194560" y="914400"/>
            <a:ext cx="640080" cy="640080"/>
          </a:xfrm>
          <a:prstGeom prst="ellipse">
            <a:avLst/>
          </a:prstGeom>
          <a:solidFill>
            <a:srgbClr val="3B5BDB"/>
          </a:solidFill>
          <a:ln/>
        </p:spPr>
      </p:sp>
      <p:sp>
        <p:nvSpPr>
          <p:cNvPr id="7" name="Text 5"/>
          <p:cNvSpPr txBox="1"/>
          <p:nvPr/>
        </p:nvSpPr>
        <p:spPr>
          <a:xfrm>
            <a:off x="2194560" y="9144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Q3</a:t>
            </a:r>
            <a:endParaRPr lang="en-US" sz="1600" dirty="0"/>
          </a:p>
        </p:txBody>
      </p:sp>
      <p:sp>
        <p:nvSpPr>
          <p:cNvPr id="8" name="Text 6"/>
          <p:cNvSpPr txBox="1"/>
          <p:nvPr/>
        </p:nvSpPr>
        <p:spPr>
          <a:xfrm>
            <a:off x="640080" y="1828800"/>
            <a:ext cx="7863840" cy="320040"/>
          </a:xfrm>
          <a:prstGeom prst="rect">
            <a:avLst/>
          </a:prstGeom>
          <a:noFill/>
          <a:ln/>
        </p:spPr>
        <p:txBody>
          <a:bodyPr wrap="square" lIns="0" tIns="0" rIns="0" bIns="0" rtlCol="0" anchor="ctr"/>
          <a:lstStyle/>
          <a:p>
            <a:pPr indent="0" marL="0">
              <a:buNone/>
            </a:pPr>
            <a:r>
              <a:rPr lang="en-US" sz="1400" b="1" spc="200" kern="0" dirty="0">
                <a:solidFill>
                  <a:srgbClr val="FF9900"/>
                </a:solidFill>
                <a:latin typeface="Arial" pitchFamily="34" charset="0"/>
                <a:ea typeface="Arial" pitchFamily="34" charset="-122"/>
                <a:cs typeface="Arial" pitchFamily="34" charset="-120"/>
              </a:rPr>
              <a:t>AWS PROJECT ASSIGNMENT · SET 1 (AWS ONLY)</a:t>
            </a:r>
            <a:endParaRPr lang="en-US" sz="1400" dirty="0"/>
          </a:p>
        </p:txBody>
      </p:sp>
      <p:sp>
        <p:nvSpPr>
          <p:cNvPr id="9" name="Text 7"/>
          <p:cNvSpPr txBox="1"/>
          <p:nvPr/>
        </p:nvSpPr>
        <p:spPr>
          <a:xfrm>
            <a:off x="640080" y="2194560"/>
            <a:ext cx="7863840" cy="1371600"/>
          </a:xfrm>
          <a:prstGeom prst="rect">
            <a:avLst/>
          </a:prstGeom>
          <a:noFill/>
          <a:ln/>
        </p:spPr>
        <p:txBody>
          <a:bodyPr wrap="square" lIns="0" tIns="0" rIns="0" bIns="0" rtlCol="0" anchor="t"/>
          <a:lstStyle/>
          <a:p>
            <a:pPr indent="0" marL="0">
              <a:buNone/>
            </a:pPr>
            <a:r>
              <a:rPr lang="en-US" sz="3600" b="1" dirty="0">
                <a:solidFill>
                  <a:srgbClr val="FFFFFF"/>
                </a:solidFill>
                <a:latin typeface="Arial" pitchFamily="34" charset="0"/>
                <a:ea typeface="Arial" pitchFamily="34" charset="-122"/>
                <a:cs typeface="Arial" pitchFamily="34" charset="-120"/>
              </a:rPr>
              <a:t>Building on AWS: Static Site, Custom VPC and a Database-Backed App</a:t>
            </a:r>
            <a:endParaRPr lang="en-US" sz="3600" dirty="0"/>
          </a:p>
        </p:txBody>
      </p:sp>
      <p:sp>
        <p:nvSpPr>
          <p:cNvPr id="10" name="Text 8"/>
          <p:cNvSpPr txBox="1"/>
          <p:nvPr/>
        </p:nvSpPr>
        <p:spPr>
          <a:xfrm>
            <a:off x="640080" y="3931920"/>
            <a:ext cx="7863840" cy="365760"/>
          </a:xfrm>
          <a:prstGeom prst="rect">
            <a:avLst/>
          </a:prstGeom>
          <a:noFill/>
          <a:ln/>
        </p:spPr>
        <p:txBody>
          <a:bodyPr wrap="square" lIns="0" tIns="0" rIns="0" bIns="0" rtlCol="0" anchor="ctr"/>
          <a:lstStyle/>
          <a:p>
            <a:pPr indent="0" marL="0">
              <a:buNone/>
            </a:pPr>
            <a:r>
              <a:rPr lang="en-US" sz="1600" dirty="0">
                <a:solidFill>
                  <a:srgbClr val="B8C7DA"/>
                </a:solidFill>
                <a:latin typeface="Arial" pitchFamily="34" charset="0"/>
                <a:ea typeface="Arial" pitchFamily="34" charset="-122"/>
                <a:cs typeface="Arial" pitchFamily="34" charset="-120"/>
              </a:rPr>
              <a:t>Amazon S3  ·  VPC  ·  EC2  ·  RDS MySQL  |  Region: Mumbai (ap-south-1)</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B2A3F"/>
                </a:solidFill>
                <a:latin typeface="Arial" pitchFamily="34" charset="0"/>
                <a:ea typeface="Arial" pitchFamily="34" charset="-122"/>
                <a:cs typeface="Arial" pitchFamily="34" charset="-120"/>
              </a:rPr>
              <a:t>Three questions, three projects</a:t>
            </a:r>
            <a:endParaRPr lang="en-US" sz="3000" dirty="0"/>
          </a:p>
        </p:txBody>
      </p:sp>
      <p:sp>
        <p:nvSpPr>
          <p:cNvPr id="3" name="OverviewCard1"/>
          <p:cNvSpPr/>
          <p:nvPr/>
        </p:nvSpPr>
        <p:spPr>
          <a:xfrm>
            <a:off x="457200" y="1188720"/>
            <a:ext cx="2560320" cy="3291840"/>
          </a:xfrm>
          <a:prstGeom prst="roundRect">
            <a:avLst>
              <a:gd name="adj" fmla="val 4286"/>
            </a:avLst>
          </a:prstGeom>
          <a:solidFill>
            <a:srgbClr val="F1F4F8"/>
          </a:solidFill>
          <a:ln/>
          <a:effectLst>
            <a:outerShdw sx="100000" sy="100000" kx="0" ky="0" algn="bl" rotWithShape="0" blurRad="101600" dist="25400" dir="5400000">
              <a:srgbClr val="000000">
                <a:alpha val="12000"/>
              </a:srgbClr>
            </a:outerShdw>
          </a:effectLst>
        </p:spPr>
      </p:sp>
      <p:sp>
        <p:nvSpPr>
          <p:cNvPr id="4" name="Shape 2"/>
          <p:cNvSpPr/>
          <p:nvPr/>
        </p:nvSpPr>
        <p:spPr>
          <a:xfrm>
            <a:off x="685800" y="1417320"/>
            <a:ext cx="731520" cy="731520"/>
          </a:xfrm>
          <a:prstGeom prst="ellipse">
            <a:avLst/>
          </a:prstGeom>
          <a:solidFill>
            <a:srgbClr val="FF9900"/>
          </a:solidFill>
          <a:ln/>
        </p:spPr>
      </p:sp>
      <p:sp>
        <p:nvSpPr>
          <p:cNvPr id="5" name="Text 3"/>
          <p:cNvSpPr txBox="1"/>
          <p:nvPr/>
        </p:nvSpPr>
        <p:spPr>
          <a:xfrm>
            <a:off x="685800" y="1417320"/>
            <a:ext cx="731520" cy="731520"/>
          </a:xfrm>
          <a:prstGeom prst="rect">
            <a:avLst/>
          </a:prstGeom>
          <a:noFill/>
          <a:ln/>
        </p:spPr>
        <p:txBody>
          <a:bodyPr wrap="square" lIns="0" tIns="0" rIns="0" bIns="0" rtlCol="0" anchor="ctr"/>
          <a:lstStyle/>
          <a:p>
            <a:pPr algn="ctr" indent="0" marL="0">
              <a:buNone/>
            </a:pPr>
            <a:r>
              <a:rPr lang="en-US" sz="2000" b="1" dirty="0">
                <a:solidFill>
                  <a:srgbClr val="0F1B2D"/>
                </a:solidFill>
                <a:latin typeface="Arial" pitchFamily="34" charset="0"/>
                <a:ea typeface="Arial" pitchFamily="34" charset="-122"/>
                <a:cs typeface="Arial" pitchFamily="34" charset="-120"/>
              </a:rPr>
              <a:t>Q1</a:t>
            </a:r>
            <a:endParaRPr lang="en-US" sz="2000" dirty="0"/>
          </a:p>
        </p:txBody>
      </p:sp>
      <p:sp>
        <p:nvSpPr>
          <p:cNvPr id="6" name="Text 4"/>
          <p:cNvSpPr txBox="1"/>
          <p:nvPr/>
        </p:nvSpPr>
        <p:spPr>
          <a:xfrm>
            <a:off x="685800" y="2331720"/>
            <a:ext cx="2103120" cy="731520"/>
          </a:xfrm>
          <a:prstGeom prst="rect">
            <a:avLst/>
          </a:prstGeom>
          <a:noFill/>
          <a:ln/>
        </p:spPr>
        <p:txBody>
          <a:bodyPr wrap="square" lIns="0" tIns="0" rIns="0" bIns="0" rtlCol="0" anchor="t"/>
          <a:lstStyle/>
          <a:p>
            <a:pPr indent="0" marL="0">
              <a:buNone/>
            </a:pPr>
            <a:r>
              <a:rPr lang="en-US" sz="1800" b="1" dirty="0">
                <a:solidFill>
                  <a:srgbClr val="1B2A3F"/>
                </a:solidFill>
                <a:latin typeface="Arial" pitchFamily="34" charset="0"/>
                <a:ea typeface="Arial" pitchFamily="34" charset="-122"/>
                <a:cs typeface="Arial" pitchFamily="34" charset="-120"/>
              </a:rPr>
              <a:t>Static website on S3</a:t>
            </a:r>
            <a:endParaRPr lang="en-US" sz="1800" dirty="0"/>
          </a:p>
        </p:txBody>
      </p:sp>
      <p:sp>
        <p:nvSpPr>
          <p:cNvPr id="7" name="Text 5"/>
          <p:cNvSpPr txBox="1"/>
          <p:nvPr/>
        </p:nvSpPr>
        <p:spPr>
          <a:xfrm>
            <a:off x="685800" y="3108960"/>
            <a:ext cx="2103120" cy="1280160"/>
          </a:xfrm>
          <a:prstGeom prst="rect">
            <a:avLst/>
          </a:prstGeom>
          <a:noFill/>
          <a:ln/>
        </p:spPr>
        <p:txBody>
          <a:bodyPr wrap="square" lIns="0" tIns="0" rIns="0" bIns="0" rtlCol="0" anchor="t"/>
          <a:lstStyle/>
          <a:p>
            <a:pPr indent="0" marL="0">
              <a:buNone/>
            </a:pPr>
            <a:r>
              <a:rPr lang="en-US" sz="1400" dirty="0">
                <a:solidFill>
                  <a:srgbClr val="33445A"/>
                </a:solidFill>
                <a:latin typeface="Arial" pitchFamily="34" charset="0"/>
                <a:ea typeface="Arial" pitchFamily="34" charset="-122"/>
                <a:cs typeface="Arial" pitchFamily="34" charset="-120"/>
              </a:rPr>
              <a:t>Host HTML, CSS and JavaScript files from an S3 bucket with the right permissions and a working website URL.</a:t>
            </a:r>
            <a:endParaRPr lang="en-US" sz="1400" dirty="0"/>
          </a:p>
        </p:txBody>
      </p:sp>
      <p:sp>
        <p:nvSpPr>
          <p:cNvPr id="8" name="OverviewCard2"/>
          <p:cNvSpPr/>
          <p:nvPr/>
        </p:nvSpPr>
        <p:spPr>
          <a:xfrm>
            <a:off x="3291840" y="1188720"/>
            <a:ext cx="2560320" cy="3291840"/>
          </a:xfrm>
          <a:prstGeom prst="roundRect">
            <a:avLst>
              <a:gd name="adj" fmla="val 4286"/>
            </a:avLst>
          </a:prstGeom>
          <a:solidFill>
            <a:srgbClr val="F1F4F8"/>
          </a:solidFill>
          <a:ln/>
          <a:effectLst>
            <a:outerShdw sx="100000" sy="100000" kx="0" ky="0" algn="bl" rotWithShape="0" blurRad="101600" dist="25400" dir="5400000">
              <a:srgbClr val="000000">
                <a:alpha val="12000"/>
              </a:srgbClr>
            </a:outerShdw>
          </a:effectLst>
        </p:spPr>
      </p:sp>
      <p:sp>
        <p:nvSpPr>
          <p:cNvPr id="9" name="Shape 7"/>
          <p:cNvSpPr/>
          <p:nvPr/>
        </p:nvSpPr>
        <p:spPr>
          <a:xfrm>
            <a:off x="3520440" y="1417320"/>
            <a:ext cx="731520" cy="731520"/>
          </a:xfrm>
          <a:prstGeom prst="ellipse">
            <a:avLst/>
          </a:prstGeom>
          <a:solidFill>
            <a:srgbClr val="0E7C7B"/>
          </a:solidFill>
          <a:ln/>
        </p:spPr>
      </p:sp>
      <p:sp>
        <p:nvSpPr>
          <p:cNvPr id="10" name="Text 8"/>
          <p:cNvSpPr txBox="1"/>
          <p:nvPr/>
        </p:nvSpPr>
        <p:spPr>
          <a:xfrm>
            <a:off x="3520440" y="141732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Q2</a:t>
            </a:r>
            <a:endParaRPr lang="en-US" sz="2000" dirty="0"/>
          </a:p>
        </p:txBody>
      </p:sp>
      <p:sp>
        <p:nvSpPr>
          <p:cNvPr id="11" name="Text 9"/>
          <p:cNvSpPr txBox="1"/>
          <p:nvPr/>
        </p:nvSpPr>
        <p:spPr>
          <a:xfrm>
            <a:off x="3520440" y="2331720"/>
            <a:ext cx="2103120" cy="731520"/>
          </a:xfrm>
          <a:prstGeom prst="rect">
            <a:avLst/>
          </a:prstGeom>
          <a:noFill/>
          <a:ln/>
        </p:spPr>
        <p:txBody>
          <a:bodyPr wrap="square" lIns="0" tIns="0" rIns="0" bIns="0" rtlCol="0" anchor="t"/>
          <a:lstStyle/>
          <a:p>
            <a:pPr indent="0" marL="0">
              <a:buNone/>
            </a:pPr>
            <a:r>
              <a:rPr lang="en-US" sz="1800" b="1" dirty="0">
                <a:solidFill>
                  <a:srgbClr val="1B2A3F"/>
                </a:solidFill>
                <a:latin typeface="Arial" pitchFamily="34" charset="0"/>
                <a:ea typeface="Arial" pitchFamily="34" charset="-122"/>
                <a:cs typeface="Arial" pitchFamily="34" charset="-120"/>
              </a:rPr>
              <a:t>Custom VPC + Ubuntu EC2</a:t>
            </a:r>
            <a:endParaRPr lang="en-US" sz="1800" dirty="0"/>
          </a:p>
        </p:txBody>
      </p:sp>
      <p:sp>
        <p:nvSpPr>
          <p:cNvPr id="12" name="Text 10"/>
          <p:cNvSpPr txBox="1"/>
          <p:nvPr/>
        </p:nvSpPr>
        <p:spPr>
          <a:xfrm>
            <a:off x="3520440" y="3108960"/>
            <a:ext cx="2103120" cy="1280160"/>
          </a:xfrm>
          <a:prstGeom prst="rect">
            <a:avLst/>
          </a:prstGeom>
          <a:noFill/>
          <a:ln/>
        </p:spPr>
        <p:txBody>
          <a:bodyPr wrap="square" lIns="0" tIns="0" rIns="0" bIns="0" rtlCol="0" anchor="t"/>
          <a:lstStyle/>
          <a:p>
            <a:pPr indent="0" marL="0">
              <a:buNone/>
            </a:pPr>
            <a:r>
              <a:rPr lang="en-US" sz="1400" dirty="0">
                <a:solidFill>
                  <a:srgbClr val="33445A"/>
                </a:solidFill>
                <a:latin typeface="Arial" pitchFamily="34" charset="0"/>
                <a:ea typeface="Arial" pitchFamily="34" charset="-122"/>
                <a:cs typeface="Arial" pitchFamily="34" charset="-120"/>
              </a:rPr>
              <a:t>Build a VPC with a public subnet, Internet Gateway, route table and Security Group, then serve a page with Nginx.</a:t>
            </a:r>
            <a:endParaRPr lang="en-US" sz="1400" dirty="0"/>
          </a:p>
        </p:txBody>
      </p:sp>
      <p:sp>
        <p:nvSpPr>
          <p:cNvPr id="13" name="OverviewCard3"/>
          <p:cNvSpPr/>
          <p:nvPr/>
        </p:nvSpPr>
        <p:spPr>
          <a:xfrm>
            <a:off x="6126480" y="1188720"/>
            <a:ext cx="2560320" cy="3291840"/>
          </a:xfrm>
          <a:prstGeom prst="roundRect">
            <a:avLst>
              <a:gd name="adj" fmla="val 4286"/>
            </a:avLst>
          </a:prstGeom>
          <a:solidFill>
            <a:srgbClr val="F1F4F8"/>
          </a:solidFill>
          <a:ln/>
          <a:effectLst>
            <a:outerShdw sx="100000" sy="100000" kx="0" ky="0" algn="bl" rotWithShape="0" blurRad="101600" dist="25400" dir="5400000">
              <a:srgbClr val="000000">
                <a:alpha val="12000"/>
              </a:srgbClr>
            </a:outerShdw>
          </a:effectLst>
        </p:spPr>
      </p:sp>
      <p:sp>
        <p:nvSpPr>
          <p:cNvPr id="14" name="Shape 12"/>
          <p:cNvSpPr/>
          <p:nvPr/>
        </p:nvSpPr>
        <p:spPr>
          <a:xfrm>
            <a:off x="6355080" y="1417320"/>
            <a:ext cx="731520" cy="731520"/>
          </a:xfrm>
          <a:prstGeom prst="ellipse">
            <a:avLst/>
          </a:prstGeom>
          <a:solidFill>
            <a:srgbClr val="3B5BDB"/>
          </a:solidFill>
          <a:ln/>
        </p:spPr>
      </p:sp>
      <p:sp>
        <p:nvSpPr>
          <p:cNvPr id="15" name="Text 13"/>
          <p:cNvSpPr txBox="1"/>
          <p:nvPr/>
        </p:nvSpPr>
        <p:spPr>
          <a:xfrm>
            <a:off x="6355080" y="141732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Q3</a:t>
            </a:r>
            <a:endParaRPr lang="en-US" sz="2000" dirty="0"/>
          </a:p>
        </p:txBody>
      </p:sp>
      <p:sp>
        <p:nvSpPr>
          <p:cNvPr id="16" name="Text 14"/>
          <p:cNvSpPr txBox="1"/>
          <p:nvPr/>
        </p:nvSpPr>
        <p:spPr>
          <a:xfrm>
            <a:off x="6355080" y="2331720"/>
            <a:ext cx="2103120" cy="731520"/>
          </a:xfrm>
          <a:prstGeom prst="rect">
            <a:avLst/>
          </a:prstGeom>
          <a:noFill/>
          <a:ln/>
        </p:spPr>
        <p:txBody>
          <a:bodyPr wrap="square" lIns="0" tIns="0" rIns="0" bIns="0" rtlCol="0" anchor="t"/>
          <a:lstStyle/>
          <a:p>
            <a:pPr indent="0" marL="0">
              <a:buNone/>
            </a:pPr>
            <a:r>
              <a:rPr lang="en-US" sz="1800" b="1" dirty="0">
                <a:solidFill>
                  <a:srgbClr val="1B2A3F"/>
                </a:solidFill>
                <a:latin typeface="Arial" pitchFamily="34" charset="0"/>
                <a:ea typeface="Arial" pitchFamily="34" charset="-122"/>
                <a:cs typeface="Arial" pitchFamily="34" charset="-120"/>
              </a:rPr>
              <a:t>Student app on EC2 + RDS</a:t>
            </a:r>
            <a:endParaRPr lang="en-US" sz="1800" dirty="0"/>
          </a:p>
        </p:txBody>
      </p:sp>
      <p:sp>
        <p:nvSpPr>
          <p:cNvPr id="17" name="Text 15"/>
          <p:cNvSpPr txBox="1"/>
          <p:nvPr/>
        </p:nvSpPr>
        <p:spPr>
          <a:xfrm>
            <a:off x="6355080" y="3108960"/>
            <a:ext cx="2103120" cy="1280160"/>
          </a:xfrm>
          <a:prstGeom prst="rect">
            <a:avLst/>
          </a:prstGeom>
          <a:noFill/>
          <a:ln/>
        </p:spPr>
        <p:txBody>
          <a:bodyPr wrap="square" lIns="0" tIns="0" rIns="0" bIns="0" rtlCol="0" anchor="t"/>
          <a:lstStyle/>
          <a:p>
            <a:pPr indent="0" marL="0">
              <a:buNone/>
            </a:pPr>
            <a:r>
              <a:rPr lang="en-US" sz="1400" dirty="0">
                <a:solidFill>
                  <a:srgbClr val="33445A"/>
                </a:solidFill>
                <a:latin typeface="Arial" pitchFamily="34" charset="0"/>
                <a:ea typeface="Arial" pitchFamily="34" charset="-122"/>
                <a:cs typeface="Arial" pitchFamily="34" charset="-120"/>
              </a:rPr>
              <a:t>Deploy a registration app on EC2 with an RDS MySQL database, then show data insertion and retrieval.</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latin typeface="Arial"/>
                <a:ea typeface="Arial"/>
                <a:cs typeface="Aria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Badge"/>
          <p:cNvSpPr/>
          <p:nvPr/>
        </p:nvSpPr>
        <p:spPr>
          <a:xfrm>
            <a:off x="548640" y="731520"/>
            <a:ext cx="1371600" cy="1371600"/>
          </a:xfrm>
          <a:prstGeom prst="ellipse">
            <a:avLst/>
          </a:prstGeom>
          <a:solidFill>
            <a:srgbClr val="FF9900"/>
          </a:solidFill>
          <a:ln/>
        </p:spPr>
      </p:sp>
      <p:sp>
        <p:nvSpPr>
          <p:cNvPr id="3" name="Text 1"/>
          <p:cNvSpPr txBox="1"/>
          <p:nvPr/>
        </p:nvSpPr>
        <p:spPr>
          <a:xfrm>
            <a:off x="548640" y="731520"/>
            <a:ext cx="1371600" cy="1371600"/>
          </a:xfrm>
          <a:prstGeom prst="rect">
            <a:avLst/>
          </a:prstGeom>
          <a:noFill/>
          <a:ln/>
        </p:spPr>
        <p:txBody>
          <a:bodyPr wrap="square" lIns="0" tIns="0" rIns="0" bIns="0" rtlCol="0" anchor="ctr"/>
          <a:lstStyle/>
          <a:p>
            <a:pPr algn="ctr" indent="0" marL="0">
              <a:buNone/>
            </a:pPr>
            <a:r>
              <a:rPr lang="en-US" sz="4000" b="1" dirty="0">
                <a:solidFill>
                  <a:srgbClr val="0F1B2D"/>
                </a:solidFill>
                <a:latin typeface="Arial" pitchFamily="34" charset="0"/>
                <a:ea typeface="Arial" pitchFamily="34" charset="-122"/>
                <a:cs typeface="Arial" pitchFamily="34" charset="-120"/>
              </a:rPr>
              <a:t>Q1</a:t>
            </a:r>
            <a:endParaRPr lang="en-US" sz="4000" dirty="0"/>
          </a:p>
        </p:txBody>
      </p:sp>
      <p:sp>
        <p:nvSpPr>
          <p:cNvPr id="4" name="Text 2"/>
          <p:cNvSpPr txBox="1"/>
          <p:nvPr/>
        </p:nvSpPr>
        <p:spPr>
          <a:xfrm>
            <a:off x="2194560" y="685800"/>
            <a:ext cx="6492240" cy="91440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Static Website Hosting on Amazon S3</a:t>
            </a:r>
            <a:endParaRPr lang="en-US" sz="3400" dirty="0"/>
          </a:p>
        </p:txBody>
      </p:sp>
      <p:sp>
        <p:nvSpPr>
          <p:cNvPr id="5" name="Text 3"/>
          <p:cNvSpPr txBox="1"/>
          <p:nvPr/>
        </p:nvSpPr>
        <p:spPr>
          <a:xfrm>
            <a:off x="2194560" y="1645920"/>
            <a:ext cx="6492240" cy="457200"/>
          </a:xfrm>
          <a:prstGeom prst="rect">
            <a:avLst/>
          </a:prstGeom>
          <a:noFill/>
          <a:ln/>
        </p:spPr>
        <p:txBody>
          <a:bodyPr wrap="square" lIns="0" tIns="0" rIns="0" bIns="0" rtlCol="0" anchor="t"/>
          <a:lstStyle/>
          <a:p>
            <a:pPr indent="0" marL="0">
              <a:buNone/>
            </a:pPr>
            <a:r>
              <a:rPr lang="en-US" sz="1600" dirty="0">
                <a:solidFill>
                  <a:srgbClr val="B8C7DA"/>
                </a:solidFill>
                <a:latin typeface="Arial" pitchFamily="34" charset="0"/>
                <a:ea typeface="Arial" pitchFamily="34" charset="-122"/>
                <a:cs typeface="Arial" pitchFamily="34" charset="-120"/>
              </a:rPr>
              <a:t>Hosting HTML, CSS and JavaScript from an S3 bucket</a:t>
            </a:r>
            <a:endParaRPr lang="en-US" sz="1600" dirty="0"/>
          </a:p>
        </p:txBody>
      </p:sp>
      <p:sp>
        <p:nvSpPr>
          <p:cNvPr id="6" name="QuestionCard"/>
          <p:cNvSpPr/>
          <p:nvPr/>
        </p:nvSpPr>
        <p:spPr>
          <a:xfrm>
            <a:off x="548640" y="2651760"/>
            <a:ext cx="8046720" cy="1828800"/>
          </a:xfrm>
          <a:prstGeom prst="roundRect">
            <a:avLst>
              <a:gd name="adj" fmla="val 6000"/>
            </a:avLst>
          </a:prstGeom>
          <a:solidFill>
            <a:srgbClr val="1B2D45"/>
          </a:solidFill>
          <a:ln/>
        </p:spPr>
      </p:sp>
      <p:sp>
        <p:nvSpPr>
          <p:cNvPr id="7" name="Text 5"/>
          <p:cNvSpPr txBox="1"/>
          <p:nvPr/>
        </p:nvSpPr>
        <p:spPr>
          <a:xfrm>
            <a:off x="822960" y="2834640"/>
            <a:ext cx="2743200" cy="274320"/>
          </a:xfrm>
          <a:prstGeom prst="rect">
            <a:avLst/>
          </a:prstGeom>
          <a:noFill/>
          <a:ln/>
        </p:spPr>
        <p:txBody>
          <a:bodyPr wrap="square" lIns="0" tIns="0" rIns="0" bIns="0" rtlCol="0" anchor="ctr"/>
          <a:lstStyle/>
          <a:p>
            <a:pPr indent="0" marL="0">
              <a:buNone/>
            </a:pPr>
            <a:r>
              <a:rPr lang="en-US" sz="1200" b="1" spc="300" kern="0" dirty="0">
                <a:solidFill>
                  <a:srgbClr val="FF9900"/>
                </a:solidFill>
                <a:latin typeface="Arial" pitchFamily="34" charset="0"/>
                <a:ea typeface="Arial" pitchFamily="34" charset="-122"/>
                <a:cs typeface="Arial" pitchFamily="34" charset="-120"/>
              </a:rPr>
              <a:t>QUESTION</a:t>
            </a:r>
            <a:endParaRPr lang="en-US" sz="1200" dirty="0"/>
          </a:p>
        </p:txBody>
      </p:sp>
      <p:sp>
        <p:nvSpPr>
          <p:cNvPr id="8" name="Text 6"/>
          <p:cNvSpPr txBox="1"/>
          <p:nvPr/>
        </p:nvSpPr>
        <p:spPr>
          <a:xfrm>
            <a:off x="822960" y="3154680"/>
            <a:ext cx="7498080" cy="1188720"/>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Design and deploy a static website on AWS using Amazon S3. Configure the S3 bucket for static website hosting, upload HTML/CSS/JavaScript files, configure the required permissions, and demonstrate the working website URL.</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457200" y="320040"/>
            <a:ext cx="6766560" cy="548640"/>
          </a:xfrm>
          <a:prstGeom prst="rect">
            <a:avLst/>
          </a:prstGeom>
          <a:noFill/>
          <a:ln/>
        </p:spPr>
        <p:txBody>
          <a:bodyPr wrap="square" lIns="0" tIns="0" rIns="0" bIns="0" rtlCol="0" anchor="ctr"/>
          <a:lstStyle/>
          <a:p>
            <a:pPr indent="0" marL="0">
              <a:buNone/>
            </a:pPr>
            <a:r>
              <a:rPr lang="en-US" sz="3000" b="1" dirty="0">
                <a:solidFill>
                  <a:srgbClr val="1B2A3F"/>
                </a:solidFill>
                <a:latin typeface="Arial" pitchFamily="34" charset="0"/>
                <a:ea typeface="Arial" pitchFamily="34" charset="-122"/>
                <a:cs typeface="Arial" pitchFamily="34" charset="-120"/>
              </a:rPr>
              <a:t>How it works</a:t>
            </a:r>
            <a:endParaRPr lang="en-US" sz="3000" dirty="0"/>
          </a:p>
        </p:txBody>
      </p:sp>
      <p:sp>
        <p:nvSpPr>
          <p:cNvPr id="3" name="Tag"/>
          <p:cNvSpPr/>
          <p:nvPr/>
        </p:nvSpPr>
        <p:spPr>
          <a:xfrm>
            <a:off x="7406640" y="411480"/>
            <a:ext cx="1280160" cy="365760"/>
          </a:xfrm>
          <a:prstGeom prst="roundRect">
            <a:avLst>
              <a:gd name="adj" fmla="val 50000"/>
            </a:avLst>
          </a:prstGeom>
          <a:solidFill>
            <a:srgbClr val="FF9900"/>
          </a:solidFill>
          <a:ln/>
        </p:spPr>
      </p:sp>
      <p:sp>
        <p:nvSpPr>
          <p:cNvPr id="4" name="TagText"/>
          <p:cNvSpPr txBox="1"/>
          <p:nvPr/>
        </p:nvSpPr>
        <p:spPr>
          <a:xfrm>
            <a:off x="7406640" y="411480"/>
            <a:ext cx="1280160" cy="365760"/>
          </a:xfrm>
          <a:prstGeom prst="rect">
            <a:avLst/>
          </a:prstGeom>
          <a:noFill/>
          <a:ln/>
        </p:spPr>
        <p:txBody>
          <a:bodyPr wrap="square" lIns="0" tIns="0" rIns="0" bIns="0" rtlCol="0" anchor="ctr"/>
          <a:lstStyle/>
          <a:p>
            <a:pPr algn="ctr" indent="0" marL="0">
              <a:buNone/>
            </a:pPr>
            <a:r>
              <a:rPr lang="en-US" sz="1100" b="1" dirty="0">
                <a:solidFill>
                  <a:srgbClr val="0F1B2D"/>
                </a:solidFill>
                <a:latin typeface="Arial" pitchFamily="34" charset="0"/>
                <a:ea typeface="Arial" pitchFamily="34" charset="-122"/>
                <a:cs typeface="Arial" pitchFamily="34" charset="-120"/>
              </a:rPr>
              <a:t>Q1 · Amazon S3</a:t>
            </a:r>
            <a:endParaRPr lang="en-US" sz="1100" dirty="0"/>
          </a:p>
        </p:txBody>
      </p:sp>
      <p:sp>
        <p:nvSpPr>
          <p:cNvPr id="5" name="Shape 3"/>
          <p:cNvSpPr/>
          <p:nvPr/>
        </p:nvSpPr>
        <p:spPr>
          <a:xfrm>
            <a:off x="457200" y="1280160"/>
            <a:ext cx="2377440" cy="1554480"/>
          </a:xfrm>
          <a:prstGeom prst="roundRect">
            <a:avLst>
              <a:gd name="adj" fmla="val 5882"/>
            </a:avLst>
          </a:prstGeom>
          <a:solidFill>
            <a:srgbClr val="F1F4F8"/>
          </a:solidFill>
          <a:ln/>
          <a:effectLst>
            <a:outerShdw sx="100000" sy="100000" kx="0" ky="0" algn="bl" rotWithShape="0" blurRad="101600" dist="25400" dir="5400000">
              <a:srgbClr val="000000">
                <a:alpha val="12000"/>
              </a:srgbClr>
            </a:outerShdw>
          </a:effectLst>
        </p:spPr>
      </p:sp>
      <p:sp>
        <p:nvSpPr>
          <p:cNvPr id="6" name="Text 4"/>
          <p:cNvSpPr txBox="1"/>
          <p:nvPr/>
        </p:nvSpPr>
        <p:spPr>
          <a:xfrm>
            <a:off x="594360" y="1417320"/>
            <a:ext cx="2103120" cy="411480"/>
          </a:xfrm>
          <a:prstGeom prst="rect">
            <a:avLst/>
          </a:prstGeom>
          <a:noFill/>
          <a:ln/>
        </p:spPr>
        <p:txBody>
          <a:bodyPr wrap="square" lIns="0" tIns="0" rIns="0" bIns="0" rtlCol="0" anchor="ctr"/>
          <a:lstStyle/>
          <a:p>
            <a:pPr algn="ctr" indent="0" marL="0">
              <a:buNone/>
            </a:pPr>
            <a:r>
              <a:rPr lang="en-US" sz="1600" b="1" dirty="0">
                <a:solidFill>
                  <a:srgbClr val="1B2A3F"/>
                </a:solidFill>
                <a:latin typeface="Arial" pitchFamily="34" charset="0"/>
                <a:ea typeface="Arial" pitchFamily="34" charset="-122"/>
                <a:cs typeface="Arial" pitchFamily="34" charset="-120"/>
              </a:rPr>
              <a:t>Website files</a:t>
            </a:r>
            <a:endParaRPr lang="en-US" sz="1600" dirty="0"/>
          </a:p>
        </p:txBody>
      </p:sp>
      <p:sp>
        <p:nvSpPr>
          <p:cNvPr id="7" name="Text 5"/>
          <p:cNvSpPr txBox="1"/>
          <p:nvPr/>
        </p:nvSpPr>
        <p:spPr>
          <a:xfrm>
            <a:off x="594360" y="1874520"/>
            <a:ext cx="2103120" cy="822960"/>
          </a:xfrm>
          <a:prstGeom prst="rect">
            <a:avLst/>
          </a:prstGeom>
          <a:noFill/>
          <a:ln/>
        </p:spPr>
        <p:txBody>
          <a:bodyPr wrap="square" lIns="0" tIns="0" rIns="0" bIns="0" rtlCol="0" anchor="t"/>
          <a:lstStyle/>
          <a:p>
            <a:pPr algn="ctr" indent="0" marL="0">
              <a:buNone/>
            </a:pPr>
            <a:r>
              <a:rPr lang="en-US" sz="1400" dirty="0">
                <a:solidFill>
                  <a:srgbClr val="33445A"/>
                </a:solidFill>
                <a:latin typeface="Arial" pitchFamily="34" charset="0"/>
                <a:ea typeface="Arial" pitchFamily="34" charset="-122"/>
                <a:cs typeface="Arial" pitchFamily="34" charset="-120"/>
              </a:rPr>
              <a:t>index.html · style.css · script.js</a:t>
            </a:r>
            <a:endParaRPr lang="en-US" sz="1400" dirty="0"/>
          </a:p>
        </p:txBody>
      </p:sp>
      <p:sp>
        <p:nvSpPr>
          <p:cNvPr id="8" name="Text 6"/>
          <p:cNvSpPr txBox="1"/>
          <p:nvPr/>
        </p:nvSpPr>
        <p:spPr>
          <a:xfrm>
            <a:off x="2834640" y="1737360"/>
            <a:ext cx="548640" cy="548640"/>
          </a:xfrm>
          <a:prstGeom prst="rect">
            <a:avLst/>
          </a:prstGeom>
          <a:noFill/>
          <a:ln/>
        </p:spPr>
        <p:txBody>
          <a:bodyPr wrap="square" lIns="0" tIns="0" rIns="0" bIns="0" rtlCol="0" anchor="ctr"/>
          <a:lstStyle/>
          <a:p>
            <a:pPr algn="ctr" indent="0" marL="0">
              <a:buNone/>
            </a:pPr>
            <a:r>
              <a:rPr lang="en-US" sz="2800" b="1" dirty="0">
                <a:solidFill>
                  <a:srgbClr val="FF9900"/>
                </a:solidFill>
                <a:latin typeface="Arial" pitchFamily="34" charset="0"/>
                <a:ea typeface="Arial" pitchFamily="34" charset="-122"/>
                <a:cs typeface="Arial" pitchFamily="34" charset="-120"/>
              </a:rPr>
              <a:t>→</a:t>
            </a:r>
            <a:endParaRPr lang="en-US" sz="2800" dirty="0"/>
          </a:p>
        </p:txBody>
      </p:sp>
      <p:sp>
        <p:nvSpPr>
          <p:cNvPr id="9" name="Shape 7"/>
          <p:cNvSpPr/>
          <p:nvPr/>
        </p:nvSpPr>
        <p:spPr>
          <a:xfrm>
            <a:off x="3383280" y="1280160"/>
            <a:ext cx="2377440" cy="1554480"/>
          </a:xfrm>
          <a:prstGeom prst="roundRect">
            <a:avLst>
              <a:gd name="adj" fmla="val 5882"/>
            </a:avLst>
          </a:prstGeom>
          <a:solidFill>
            <a:srgbClr val="FF9900"/>
          </a:solidFill>
          <a:ln/>
          <a:effectLst>
            <a:outerShdw sx="100000" sy="100000" kx="0" ky="0" algn="bl" rotWithShape="0" blurRad="101600" dist="25400" dir="5400000">
              <a:srgbClr val="000000">
                <a:alpha val="12000"/>
              </a:srgbClr>
            </a:outerShdw>
          </a:effectLst>
        </p:spPr>
      </p:sp>
      <p:sp>
        <p:nvSpPr>
          <p:cNvPr id="10" name="Text 8"/>
          <p:cNvSpPr txBox="1"/>
          <p:nvPr/>
        </p:nvSpPr>
        <p:spPr>
          <a:xfrm>
            <a:off x="3520440" y="1417320"/>
            <a:ext cx="2103120" cy="411480"/>
          </a:xfrm>
          <a:prstGeom prst="rect">
            <a:avLst/>
          </a:prstGeom>
          <a:noFill/>
          <a:ln/>
        </p:spPr>
        <p:txBody>
          <a:bodyPr wrap="square" lIns="0" tIns="0" rIns="0" bIns="0" rtlCol="0" anchor="ctr"/>
          <a:lstStyle/>
          <a:p>
            <a:pPr algn="ctr" indent="0" marL="0">
              <a:buNone/>
            </a:pPr>
            <a:r>
              <a:rPr lang="en-US" sz="1600" b="1" dirty="0">
                <a:solidFill>
                  <a:srgbClr val="0F1B2D"/>
                </a:solidFill>
                <a:latin typeface="Arial" pitchFamily="34" charset="0"/>
                <a:ea typeface="Arial" pitchFamily="34" charset="-122"/>
                <a:cs typeface="Arial" pitchFamily="34" charset="-120"/>
              </a:rPr>
              <a:t>Amazon S3 bucket</a:t>
            </a:r>
            <a:endParaRPr lang="en-US" sz="1600" dirty="0"/>
          </a:p>
        </p:txBody>
      </p:sp>
      <p:sp>
        <p:nvSpPr>
          <p:cNvPr id="11" name="Text 9"/>
          <p:cNvSpPr txBox="1"/>
          <p:nvPr/>
        </p:nvSpPr>
        <p:spPr>
          <a:xfrm>
            <a:off x="3520440" y="1874520"/>
            <a:ext cx="2103120" cy="822960"/>
          </a:xfrm>
          <a:prstGeom prst="rect">
            <a:avLst/>
          </a:prstGeom>
          <a:noFill/>
          <a:ln/>
        </p:spPr>
        <p:txBody>
          <a:bodyPr wrap="square" lIns="0" tIns="0" rIns="0" bIns="0" rtlCol="0" anchor="t"/>
          <a:lstStyle/>
          <a:p>
            <a:pPr algn="ctr" indent="0" marL="0">
              <a:buNone/>
            </a:pPr>
            <a:r>
              <a:rPr lang="en-US" sz="1400" dirty="0">
                <a:solidFill>
                  <a:srgbClr val="0F1B2D"/>
                </a:solidFill>
                <a:latin typeface="Arial" pitchFamily="34" charset="0"/>
                <a:ea typeface="Arial" pitchFamily="34" charset="-122"/>
                <a:cs typeface="Arial" pitchFamily="34" charset="-120"/>
              </a:rPr>
              <a:t>q1-project-buckket</a:t>
            </a:r>
            <a:endParaRPr lang="en-US" sz="1400" dirty="0"/>
          </a:p>
          <a:p>
            <a:pPr algn="ctr" indent="0" marL="0">
              <a:buNone/>
            </a:pPr>
            <a:r>
              <a:rPr lang="en-US" sz="1400" dirty="0">
                <a:solidFill>
                  <a:srgbClr val="0F1B2D"/>
                </a:solidFill>
                <a:latin typeface="Arial" pitchFamily="34" charset="0"/>
                <a:ea typeface="Arial" pitchFamily="34" charset="-122"/>
                <a:cs typeface="Arial" pitchFamily="34" charset="-120"/>
              </a:rPr>
              <a:t>Static hosting + public-read policy</a:t>
            </a:r>
            <a:endParaRPr lang="en-US" sz="1400" dirty="0"/>
          </a:p>
        </p:txBody>
      </p:sp>
      <p:sp>
        <p:nvSpPr>
          <p:cNvPr id="12" name="Text 10"/>
          <p:cNvSpPr txBox="1"/>
          <p:nvPr/>
        </p:nvSpPr>
        <p:spPr>
          <a:xfrm>
            <a:off x="5760720" y="1737360"/>
            <a:ext cx="548640" cy="548640"/>
          </a:xfrm>
          <a:prstGeom prst="rect">
            <a:avLst/>
          </a:prstGeom>
          <a:noFill/>
          <a:ln/>
        </p:spPr>
        <p:txBody>
          <a:bodyPr wrap="square" lIns="0" tIns="0" rIns="0" bIns="0" rtlCol="0" anchor="ctr"/>
          <a:lstStyle/>
          <a:p>
            <a:pPr algn="ctr" indent="0" marL="0">
              <a:buNone/>
            </a:pPr>
            <a:r>
              <a:rPr lang="en-US" sz="2800" b="1" dirty="0">
                <a:solidFill>
                  <a:srgbClr val="FF9900"/>
                </a:solidFill>
                <a:latin typeface="Arial" pitchFamily="34" charset="0"/>
                <a:ea typeface="Arial" pitchFamily="34" charset="-122"/>
                <a:cs typeface="Arial" pitchFamily="34" charset="-120"/>
              </a:rPr>
              <a:t>→</a:t>
            </a:r>
            <a:endParaRPr lang="en-US" sz="2800" dirty="0"/>
          </a:p>
        </p:txBody>
      </p:sp>
      <p:sp>
        <p:nvSpPr>
          <p:cNvPr id="13" name="Shape 11"/>
          <p:cNvSpPr/>
          <p:nvPr/>
        </p:nvSpPr>
        <p:spPr>
          <a:xfrm>
            <a:off x="6309360" y="1280160"/>
            <a:ext cx="2377440" cy="1554480"/>
          </a:xfrm>
          <a:prstGeom prst="roundRect">
            <a:avLst>
              <a:gd name="adj" fmla="val 5882"/>
            </a:avLst>
          </a:prstGeom>
          <a:solidFill>
            <a:srgbClr val="F1F4F8"/>
          </a:solidFill>
          <a:ln/>
          <a:effectLst>
            <a:outerShdw sx="100000" sy="100000" kx="0" ky="0" algn="bl" rotWithShape="0" blurRad="101600" dist="25400" dir="5400000">
              <a:srgbClr val="000000">
                <a:alpha val="12000"/>
              </a:srgbClr>
            </a:outerShdw>
          </a:effectLst>
        </p:spPr>
      </p:sp>
      <p:sp>
        <p:nvSpPr>
          <p:cNvPr id="14" name="Text 12"/>
          <p:cNvSpPr txBox="1"/>
          <p:nvPr/>
        </p:nvSpPr>
        <p:spPr>
          <a:xfrm>
            <a:off x="6446520" y="1417320"/>
            <a:ext cx="2103120" cy="411480"/>
          </a:xfrm>
          <a:prstGeom prst="rect">
            <a:avLst/>
          </a:prstGeom>
          <a:noFill/>
          <a:ln/>
        </p:spPr>
        <p:txBody>
          <a:bodyPr wrap="square" lIns="0" tIns="0" rIns="0" bIns="0" rtlCol="0" anchor="ctr"/>
          <a:lstStyle/>
          <a:p>
            <a:pPr algn="ctr" indent="0" marL="0">
              <a:buNone/>
            </a:pPr>
            <a:r>
              <a:rPr lang="en-US" sz="1600" b="1" dirty="0">
                <a:solidFill>
                  <a:srgbClr val="1B2A3F"/>
                </a:solidFill>
                <a:latin typeface="Arial" pitchFamily="34" charset="0"/>
                <a:ea typeface="Arial" pitchFamily="34" charset="-122"/>
                <a:cs typeface="Arial" pitchFamily="34" charset="-120"/>
              </a:rPr>
              <a:t>Visitor's browser</a:t>
            </a:r>
            <a:endParaRPr lang="en-US" sz="1600" dirty="0"/>
          </a:p>
        </p:txBody>
      </p:sp>
      <p:sp>
        <p:nvSpPr>
          <p:cNvPr id="15" name="Text 13"/>
          <p:cNvSpPr txBox="1"/>
          <p:nvPr/>
        </p:nvSpPr>
        <p:spPr>
          <a:xfrm>
            <a:off x="6446520" y="1874520"/>
            <a:ext cx="2103120" cy="822960"/>
          </a:xfrm>
          <a:prstGeom prst="rect">
            <a:avLst/>
          </a:prstGeom>
          <a:noFill/>
          <a:ln/>
        </p:spPr>
        <p:txBody>
          <a:bodyPr wrap="square" lIns="0" tIns="0" rIns="0" bIns="0" rtlCol="0" anchor="t"/>
          <a:lstStyle/>
          <a:p>
            <a:pPr algn="ctr" indent="0" marL="0">
              <a:buNone/>
            </a:pPr>
            <a:r>
              <a:rPr lang="en-US" sz="1400" dirty="0">
                <a:solidFill>
                  <a:srgbClr val="33445A"/>
                </a:solidFill>
                <a:latin typeface="Arial" pitchFamily="34" charset="0"/>
                <a:ea typeface="Arial" pitchFamily="34" charset="-122"/>
                <a:cs typeface="Arial" pitchFamily="34" charset="-120"/>
              </a:rPr>
              <a:t>Opens the bucket website endpoint over HTTP</a:t>
            </a:r>
            <a:endParaRPr lang="en-US" sz="1400" dirty="0"/>
          </a:p>
        </p:txBody>
      </p:sp>
      <p:sp>
        <p:nvSpPr>
          <p:cNvPr id="16" name="Text 14"/>
          <p:cNvSpPr txBox="1"/>
          <p:nvPr/>
        </p:nvSpPr>
        <p:spPr>
          <a:xfrm>
            <a:off x="457200" y="3200400"/>
            <a:ext cx="2560320" cy="320040"/>
          </a:xfrm>
          <a:prstGeom prst="rect">
            <a:avLst/>
          </a:prstGeom>
          <a:noFill/>
          <a:ln/>
        </p:spPr>
        <p:txBody>
          <a:bodyPr wrap="square" lIns="0" tIns="0" rIns="0" bIns="0" rtlCol="0" anchor="ctr"/>
          <a:lstStyle/>
          <a:p>
            <a:pPr indent="0" marL="0">
              <a:buNone/>
            </a:pPr>
            <a:r>
              <a:rPr lang="en-US" sz="1600" b="1" dirty="0">
                <a:solidFill>
                  <a:srgbClr val="0E7C7B"/>
                </a:solidFill>
                <a:latin typeface="Arial" pitchFamily="34" charset="0"/>
                <a:ea typeface="Arial" pitchFamily="34" charset="-122"/>
                <a:cs typeface="Arial" pitchFamily="34" charset="-120"/>
              </a:rPr>
              <a:t>index.html</a:t>
            </a:r>
            <a:endParaRPr lang="en-US" sz="1600" dirty="0"/>
          </a:p>
        </p:txBody>
      </p:sp>
      <p:sp>
        <p:nvSpPr>
          <p:cNvPr id="17" name="Text 15"/>
          <p:cNvSpPr txBox="1"/>
          <p:nvPr/>
        </p:nvSpPr>
        <p:spPr>
          <a:xfrm>
            <a:off x="457200" y="3566160"/>
            <a:ext cx="2560320" cy="822960"/>
          </a:xfrm>
          <a:prstGeom prst="rect">
            <a:avLst/>
          </a:prstGeom>
          <a:noFill/>
          <a:ln/>
        </p:spPr>
        <p:txBody>
          <a:bodyPr wrap="square" lIns="0" tIns="0" rIns="0" bIns="0" rtlCol="0" anchor="t"/>
          <a:lstStyle/>
          <a:p>
            <a:pPr indent="0" marL="0">
              <a:buNone/>
            </a:pPr>
            <a:r>
              <a:rPr lang="en-US" sz="1400" dirty="0">
                <a:solidFill>
                  <a:srgbClr val="33445A"/>
                </a:solidFill>
                <a:latin typeface="Arial" pitchFamily="34" charset="0"/>
                <a:ea typeface="Arial" pitchFamily="34" charset="-122"/>
                <a:cs typeface="Arial" pitchFamily="34" charset="-120"/>
              </a:rPr>
              <a:t>Heading, message text and a "Show current time" button</a:t>
            </a:r>
            <a:endParaRPr lang="en-US" sz="1400" dirty="0"/>
          </a:p>
        </p:txBody>
      </p:sp>
      <p:sp>
        <p:nvSpPr>
          <p:cNvPr id="18" name="Text 16"/>
          <p:cNvSpPr txBox="1"/>
          <p:nvPr/>
        </p:nvSpPr>
        <p:spPr>
          <a:xfrm>
            <a:off x="3383280" y="3200400"/>
            <a:ext cx="2560320" cy="320040"/>
          </a:xfrm>
          <a:prstGeom prst="rect">
            <a:avLst/>
          </a:prstGeom>
          <a:noFill/>
          <a:ln/>
        </p:spPr>
        <p:txBody>
          <a:bodyPr wrap="square" lIns="0" tIns="0" rIns="0" bIns="0" rtlCol="0" anchor="ctr"/>
          <a:lstStyle/>
          <a:p>
            <a:pPr indent="0" marL="0">
              <a:buNone/>
            </a:pPr>
            <a:r>
              <a:rPr lang="en-US" sz="1600" b="1" dirty="0">
                <a:solidFill>
                  <a:srgbClr val="0E7C7B"/>
                </a:solidFill>
                <a:latin typeface="Arial" pitchFamily="34" charset="0"/>
                <a:ea typeface="Arial" pitchFamily="34" charset="-122"/>
                <a:cs typeface="Arial" pitchFamily="34" charset="-120"/>
              </a:rPr>
              <a:t>style.css</a:t>
            </a:r>
            <a:endParaRPr lang="en-US" sz="1600" dirty="0"/>
          </a:p>
        </p:txBody>
      </p:sp>
      <p:sp>
        <p:nvSpPr>
          <p:cNvPr id="19" name="Text 17"/>
          <p:cNvSpPr txBox="1"/>
          <p:nvPr/>
        </p:nvSpPr>
        <p:spPr>
          <a:xfrm>
            <a:off x="3383280" y="3566160"/>
            <a:ext cx="2560320" cy="822960"/>
          </a:xfrm>
          <a:prstGeom prst="rect">
            <a:avLst/>
          </a:prstGeom>
          <a:noFill/>
          <a:ln/>
        </p:spPr>
        <p:txBody>
          <a:bodyPr wrap="square" lIns="0" tIns="0" rIns="0" bIns="0" rtlCol="0" anchor="t"/>
          <a:lstStyle/>
          <a:p>
            <a:pPr indent="0" marL="0">
              <a:buNone/>
            </a:pPr>
            <a:r>
              <a:rPr lang="en-US" sz="1400" dirty="0">
                <a:solidFill>
                  <a:srgbClr val="33445A"/>
                </a:solidFill>
                <a:latin typeface="Arial" pitchFamily="34" charset="0"/>
                <a:ea typeface="Arial" pitchFamily="34" charset="-122"/>
                <a:cs typeface="Arial" pitchFamily="34" charset="-120"/>
              </a:rPr>
              <a:t>Arial font, centred layout, light background, orange button</a:t>
            </a:r>
            <a:endParaRPr lang="en-US" sz="1400" dirty="0"/>
          </a:p>
        </p:txBody>
      </p:sp>
      <p:sp>
        <p:nvSpPr>
          <p:cNvPr id="20" name="Text 18"/>
          <p:cNvSpPr txBox="1"/>
          <p:nvPr/>
        </p:nvSpPr>
        <p:spPr>
          <a:xfrm>
            <a:off x="6309360" y="3200400"/>
            <a:ext cx="2560320" cy="320040"/>
          </a:xfrm>
          <a:prstGeom prst="rect">
            <a:avLst/>
          </a:prstGeom>
          <a:noFill/>
          <a:ln/>
        </p:spPr>
        <p:txBody>
          <a:bodyPr wrap="square" lIns="0" tIns="0" rIns="0" bIns="0" rtlCol="0" anchor="ctr"/>
          <a:lstStyle/>
          <a:p>
            <a:pPr indent="0" marL="0">
              <a:buNone/>
            </a:pPr>
            <a:r>
              <a:rPr lang="en-US" sz="1600" b="1" dirty="0">
                <a:solidFill>
                  <a:srgbClr val="0E7C7B"/>
                </a:solidFill>
                <a:latin typeface="Arial" pitchFamily="34" charset="0"/>
                <a:ea typeface="Arial" pitchFamily="34" charset="-122"/>
                <a:cs typeface="Arial" pitchFamily="34" charset="-120"/>
              </a:rPr>
              <a:t>script.js</a:t>
            </a:r>
            <a:endParaRPr lang="en-US" sz="1600" dirty="0"/>
          </a:p>
        </p:txBody>
      </p:sp>
      <p:sp>
        <p:nvSpPr>
          <p:cNvPr id="21" name="Text 19"/>
          <p:cNvSpPr txBox="1"/>
          <p:nvPr/>
        </p:nvSpPr>
        <p:spPr>
          <a:xfrm>
            <a:off x="6309360" y="3566160"/>
            <a:ext cx="2560320" cy="822960"/>
          </a:xfrm>
          <a:prstGeom prst="rect">
            <a:avLst/>
          </a:prstGeom>
          <a:noFill/>
          <a:ln/>
        </p:spPr>
        <p:txBody>
          <a:bodyPr wrap="square" lIns="0" tIns="0" rIns="0" bIns="0" rtlCol="0" anchor="t"/>
          <a:lstStyle/>
          <a:p>
            <a:pPr indent="0" marL="0">
              <a:buNone/>
            </a:pPr>
            <a:r>
              <a:rPr lang="en-US" sz="1400" dirty="0">
                <a:solidFill>
                  <a:srgbClr val="33445A"/>
                </a:solidFill>
                <a:latin typeface="Arial" pitchFamily="34" charset="0"/>
                <a:ea typeface="Arial" pitchFamily="34" charset="-122"/>
                <a:cs typeface="Arial" pitchFamily="34" charset="-120"/>
              </a:rPr>
              <a:t>showTime() writes the current date and time into the page</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457200" y="320040"/>
            <a:ext cx="6766560" cy="548640"/>
          </a:xfrm>
          <a:prstGeom prst="rect">
            <a:avLst/>
          </a:prstGeom>
          <a:noFill/>
          <a:ln/>
        </p:spPr>
        <p:txBody>
          <a:bodyPr wrap="square" lIns="0" tIns="0" rIns="0" bIns="0" rtlCol="0" anchor="ctr"/>
          <a:lstStyle/>
          <a:p>
            <a:pPr indent="0" marL="0">
              <a:buNone/>
            </a:pPr>
            <a:r>
              <a:rPr lang="en-US" sz="3000" b="1" dirty="0">
                <a:solidFill>
                  <a:srgbClr val="1B2A3F"/>
                </a:solidFill>
                <a:latin typeface="Arial" pitchFamily="34" charset="0"/>
                <a:ea typeface="Arial" pitchFamily="34" charset="-122"/>
                <a:cs typeface="Arial" pitchFamily="34" charset="-120"/>
              </a:rPr>
              <a:t>Setup steps, console flow</a:t>
            </a:r>
            <a:endParaRPr lang="en-US" sz="3000" dirty="0"/>
          </a:p>
        </p:txBody>
      </p:sp>
      <p:sp>
        <p:nvSpPr>
          <p:cNvPr id="3" name="Tag"/>
          <p:cNvSpPr/>
          <p:nvPr/>
        </p:nvSpPr>
        <p:spPr>
          <a:xfrm>
            <a:off x="7406640" y="411480"/>
            <a:ext cx="1280160" cy="365760"/>
          </a:xfrm>
          <a:prstGeom prst="roundRect">
            <a:avLst>
              <a:gd name="adj" fmla="val 50000"/>
            </a:avLst>
          </a:prstGeom>
          <a:solidFill>
            <a:srgbClr val="FF9900"/>
          </a:solidFill>
          <a:ln/>
        </p:spPr>
      </p:sp>
      <p:sp>
        <p:nvSpPr>
          <p:cNvPr id="4" name="TagText"/>
          <p:cNvSpPr txBox="1"/>
          <p:nvPr/>
        </p:nvSpPr>
        <p:spPr>
          <a:xfrm>
            <a:off x="7406640" y="411480"/>
            <a:ext cx="1280160" cy="365760"/>
          </a:xfrm>
          <a:prstGeom prst="rect">
            <a:avLst/>
          </a:prstGeom>
          <a:noFill/>
          <a:ln/>
        </p:spPr>
        <p:txBody>
          <a:bodyPr wrap="square" lIns="0" tIns="0" rIns="0" bIns="0" rtlCol="0" anchor="ctr"/>
          <a:lstStyle/>
          <a:p>
            <a:pPr algn="ctr" indent="0" marL="0">
              <a:buNone/>
            </a:pPr>
            <a:r>
              <a:rPr lang="en-US" sz="1100" b="1" dirty="0">
                <a:solidFill>
                  <a:srgbClr val="0F1B2D"/>
                </a:solidFill>
                <a:latin typeface="Arial" pitchFamily="34" charset="0"/>
                <a:ea typeface="Arial" pitchFamily="34" charset="-122"/>
                <a:cs typeface="Arial" pitchFamily="34" charset="-120"/>
              </a:rPr>
              <a:t>Q1 · Amazon S3</a:t>
            </a:r>
            <a:endParaRPr lang="en-US" sz="1100" dirty="0"/>
          </a:p>
        </p:txBody>
      </p:sp>
      <p:sp>
        <p:nvSpPr>
          <p:cNvPr id="5" name="Card1"/>
          <p:cNvSpPr/>
          <p:nvPr/>
        </p:nvSpPr>
        <p:spPr>
          <a:xfrm>
            <a:off x="457200" y="1188720"/>
            <a:ext cx="3977640" cy="1600200"/>
          </a:xfrm>
          <a:prstGeom prst="roundRect">
            <a:avLst>
              <a:gd name="adj" fmla="val 5714"/>
            </a:avLst>
          </a:prstGeom>
          <a:solidFill>
            <a:srgbClr val="F1F4F8"/>
          </a:solidFill>
          <a:ln/>
          <a:effectLst>
            <a:outerShdw sx="100000" sy="100000" kx="0" ky="0" algn="bl" rotWithShape="0" blurRad="101600" dist="25400" dir="5400000">
              <a:srgbClr val="000000">
                <a:alpha val="12000"/>
              </a:srgbClr>
            </a:outerShdw>
          </a:effectLst>
        </p:spPr>
      </p:sp>
      <p:sp>
        <p:nvSpPr>
          <p:cNvPr id="6" name="Shape 4"/>
          <p:cNvSpPr/>
          <p:nvPr/>
        </p:nvSpPr>
        <p:spPr>
          <a:xfrm>
            <a:off x="640080" y="1371600"/>
            <a:ext cx="411480" cy="411480"/>
          </a:xfrm>
          <a:prstGeom prst="ellipse">
            <a:avLst/>
          </a:prstGeom>
          <a:solidFill>
            <a:srgbClr val="FF9900"/>
          </a:solidFill>
          <a:ln/>
        </p:spPr>
      </p:sp>
      <p:sp>
        <p:nvSpPr>
          <p:cNvPr id="7" name="Text 5"/>
          <p:cNvSpPr txBox="1"/>
          <p:nvPr/>
        </p:nvSpPr>
        <p:spPr>
          <a:xfrm>
            <a:off x="640080" y="1371600"/>
            <a:ext cx="411480" cy="411480"/>
          </a:xfrm>
          <a:prstGeom prst="rect">
            <a:avLst/>
          </a:prstGeom>
          <a:noFill/>
          <a:ln/>
        </p:spPr>
        <p:txBody>
          <a:bodyPr wrap="square" lIns="0" tIns="0" rIns="0" bIns="0"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1</a:t>
            </a:r>
            <a:endParaRPr lang="en-US" sz="1400" dirty="0"/>
          </a:p>
        </p:txBody>
      </p:sp>
      <p:sp>
        <p:nvSpPr>
          <p:cNvPr id="8" name="Text 6"/>
          <p:cNvSpPr txBox="1"/>
          <p:nvPr/>
        </p:nvSpPr>
        <p:spPr>
          <a:xfrm>
            <a:off x="1188720" y="1371600"/>
            <a:ext cx="3063240" cy="411480"/>
          </a:xfrm>
          <a:prstGeom prst="rect">
            <a:avLst/>
          </a:prstGeom>
          <a:noFill/>
          <a:ln/>
        </p:spPr>
        <p:txBody>
          <a:bodyPr wrap="square" lIns="0" tIns="0" rIns="0" bIns="0" rtlCol="0" anchor="ctr"/>
          <a:lstStyle/>
          <a:p>
            <a:pPr indent="0" marL="0">
              <a:buNone/>
            </a:pPr>
            <a:r>
              <a:rPr lang="en-US" sz="1600" b="1" dirty="0">
                <a:solidFill>
                  <a:srgbClr val="1B2A3F"/>
                </a:solidFill>
                <a:latin typeface="Arial" pitchFamily="34" charset="0"/>
                <a:ea typeface="Arial" pitchFamily="34" charset="-122"/>
                <a:cs typeface="Arial" pitchFamily="34" charset="-120"/>
              </a:rPr>
              <a:t>Create the bucket</a:t>
            </a:r>
            <a:endParaRPr lang="en-US" sz="1600" dirty="0"/>
          </a:p>
        </p:txBody>
      </p:sp>
      <p:sp>
        <p:nvSpPr>
          <p:cNvPr id="9" name="Text 7"/>
          <p:cNvSpPr txBox="1"/>
          <p:nvPr/>
        </p:nvSpPr>
        <p:spPr>
          <a:xfrm>
            <a:off x="685800" y="1920240"/>
            <a:ext cx="3520440" cy="731520"/>
          </a:xfrm>
          <a:prstGeom prst="rect">
            <a:avLst/>
          </a:prstGeom>
          <a:noFill/>
          <a:ln/>
        </p:spPr>
        <p:txBody>
          <a:bodyPr wrap="square" lIns="0" tIns="0" rIns="0" bIns="0" rtlCol="0" anchor="t"/>
          <a:lstStyle/>
          <a:p>
            <a:pPr indent="0" marL="0">
              <a:buNone/>
            </a:pPr>
            <a:r>
              <a:rPr lang="en-US" sz="1400" dirty="0">
                <a:solidFill>
                  <a:srgbClr val="33445A"/>
                </a:solidFill>
                <a:latin typeface="Arial" pitchFamily="34" charset="0"/>
                <a:ea typeface="Arial" pitchFamily="34" charset="-122"/>
                <a:cs typeface="Arial" pitchFamily="34" charset="-120"/>
              </a:rPr>
              <a:t>Name q1-project-buckket, region Mumbai. Untick Block all public access.</a:t>
            </a:r>
            <a:endParaRPr lang="en-US" sz="1400" dirty="0"/>
          </a:p>
        </p:txBody>
      </p:sp>
      <p:sp>
        <p:nvSpPr>
          <p:cNvPr id="10" name="Card2"/>
          <p:cNvSpPr/>
          <p:nvPr/>
        </p:nvSpPr>
        <p:spPr>
          <a:xfrm>
            <a:off x="4709160" y="1188720"/>
            <a:ext cx="3977640" cy="1600200"/>
          </a:xfrm>
          <a:prstGeom prst="roundRect">
            <a:avLst>
              <a:gd name="adj" fmla="val 5714"/>
            </a:avLst>
          </a:prstGeom>
          <a:solidFill>
            <a:srgbClr val="F1F4F8"/>
          </a:solidFill>
          <a:ln/>
          <a:effectLst>
            <a:outerShdw sx="100000" sy="100000" kx="0" ky="0" algn="bl" rotWithShape="0" blurRad="101600" dist="25400" dir="5400000">
              <a:srgbClr val="000000">
                <a:alpha val="12000"/>
              </a:srgbClr>
            </a:outerShdw>
          </a:effectLst>
        </p:spPr>
      </p:sp>
      <p:sp>
        <p:nvSpPr>
          <p:cNvPr id="11" name="Shape 9"/>
          <p:cNvSpPr/>
          <p:nvPr/>
        </p:nvSpPr>
        <p:spPr>
          <a:xfrm>
            <a:off x="4892040" y="1371600"/>
            <a:ext cx="411480" cy="411480"/>
          </a:xfrm>
          <a:prstGeom prst="ellipse">
            <a:avLst/>
          </a:prstGeom>
          <a:solidFill>
            <a:srgbClr val="FF9900"/>
          </a:solidFill>
          <a:ln/>
        </p:spPr>
      </p:sp>
      <p:sp>
        <p:nvSpPr>
          <p:cNvPr id="12" name="Text 10"/>
          <p:cNvSpPr txBox="1"/>
          <p:nvPr/>
        </p:nvSpPr>
        <p:spPr>
          <a:xfrm>
            <a:off x="4892040" y="1371600"/>
            <a:ext cx="411480" cy="411480"/>
          </a:xfrm>
          <a:prstGeom prst="rect">
            <a:avLst/>
          </a:prstGeom>
          <a:noFill/>
          <a:ln/>
        </p:spPr>
        <p:txBody>
          <a:bodyPr wrap="square" lIns="0" tIns="0" rIns="0" bIns="0"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2</a:t>
            </a:r>
            <a:endParaRPr lang="en-US" sz="1400" dirty="0"/>
          </a:p>
        </p:txBody>
      </p:sp>
      <p:sp>
        <p:nvSpPr>
          <p:cNvPr id="13" name="Text 11"/>
          <p:cNvSpPr txBox="1"/>
          <p:nvPr/>
        </p:nvSpPr>
        <p:spPr>
          <a:xfrm>
            <a:off x="5440680" y="1371600"/>
            <a:ext cx="3063240" cy="411480"/>
          </a:xfrm>
          <a:prstGeom prst="rect">
            <a:avLst/>
          </a:prstGeom>
          <a:noFill/>
          <a:ln/>
        </p:spPr>
        <p:txBody>
          <a:bodyPr wrap="square" lIns="0" tIns="0" rIns="0" bIns="0" rtlCol="0" anchor="ctr"/>
          <a:lstStyle/>
          <a:p>
            <a:pPr indent="0" marL="0">
              <a:buNone/>
            </a:pPr>
            <a:r>
              <a:rPr lang="en-US" sz="1600" b="1" dirty="0">
                <a:solidFill>
                  <a:srgbClr val="1B2A3F"/>
                </a:solidFill>
                <a:latin typeface="Arial" pitchFamily="34" charset="0"/>
                <a:ea typeface="Arial" pitchFamily="34" charset="-122"/>
                <a:cs typeface="Arial" pitchFamily="34" charset="-120"/>
              </a:rPr>
              <a:t>Upload the files</a:t>
            </a:r>
            <a:endParaRPr lang="en-US" sz="1600" dirty="0"/>
          </a:p>
        </p:txBody>
      </p:sp>
      <p:sp>
        <p:nvSpPr>
          <p:cNvPr id="14" name="Text 12"/>
          <p:cNvSpPr txBox="1"/>
          <p:nvPr/>
        </p:nvSpPr>
        <p:spPr>
          <a:xfrm>
            <a:off x="4937760" y="1920240"/>
            <a:ext cx="3520440" cy="731520"/>
          </a:xfrm>
          <a:prstGeom prst="rect">
            <a:avLst/>
          </a:prstGeom>
          <a:noFill/>
          <a:ln/>
        </p:spPr>
        <p:txBody>
          <a:bodyPr wrap="square" lIns="0" tIns="0" rIns="0" bIns="0" rtlCol="0" anchor="t"/>
          <a:lstStyle/>
          <a:p>
            <a:pPr indent="0" marL="0">
              <a:buNone/>
            </a:pPr>
            <a:r>
              <a:rPr lang="en-US" sz="1400" dirty="0">
                <a:solidFill>
                  <a:srgbClr val="33445A"/>
                </a:solidFill>
                <a:latin typeface="Arial" pitchFamily="34" charset="0"/>
                <a:ea typeface="Arial" pitchFamily="34" charset="-122"/>
                <a:cs typeface="Arial" pitchFamily="34" charset="-120"/>
              </a:rPr>
              <a:t>Add index.html, style.css and script.js to the bucket root.</a:t>
            </a:r>
            <a:endParaRPr lang="en-US" sz="1400" dirty="0"/>
          </a:p>
        </p:txBody>
      </p:sp>
      <p:sp>
        <p:nvSpPr>
          <p:cNvPr id="15" name="Card3"/>
          <p:cNvSpPr/>
          <p:nvPr/>
        </p:nvSpPr>
        <p:spPr>
          <a:xfrm>
            <a:off x="457200" y="3063240"/>
            <a:ext cx="3977640" cy="1600200"/>
          </a:xfrm>
          <a:prstGeom prst="roundRect">
            <a:avLst>
              <a:gd name="adj" fmla="val 5714"/>
            </a:avLst>
          </a:prstGeom>
          <a:solidFill>
            <a:srgbClr val="F1F4F8"/>
          </a:solidFill>
          <a:ln/>
          <a:effectLst>
            <a:outerShdw sx="100000" sy="100000" kx="0" ky="0" algn="bl" rotWithShape="0" blurRad="101600" dist="25400" dir="5400000">
              <a:srgbClr val="000000">
                <a:alpha val="12000"/>
              </a:srgbClr>
            </a:outerShdw>
          </a:effectLst>
        </p:spPr>
      </p:sp>
      <p:sp>
        <p:nvSpPr>
          <p:cNvPr id="16" name="Shape 14"/>
          <p:cNvSpPr/>
          <p:nvPr/>
        </p:nvSpPr>
        <p:spPr>
          <a:xfrm>
            <a:off x="640080" y="3246120"/>
            <a:ext cx="411480" cy="411480"/>
          </a:xfrm>
          <a:prstGeom prst="ellipse">
            <a:avLst/>
          </a:prstGeom>
          <a:solidFill>
            <a:srgbClr val="FF9900"/>
          </a:solidFill>
          <a:ln/>
        </p:spPr>
      </p:sp>
      <p:sp>
        <p:nvSpPr>
          <p:cNvPr id="17" name="Text 15"/>
          <p:cNvSpPr txBox="1"/>
          <p:nvPr/>
        </p:nvSpPr>
        <p:spPr>
          <a:xfrm>
            <a:off x="640080" y="3246120"/>
            <a:ext cx="411480" cy="411480"/>
          </a:xfrm>
          <a:prstGeom prst="rect">
            <a:avLst/>
          </a:prstGeom>
          <a:noFill/>
          <a:ln/>
        </p:spPr>
        <p:txBody>
          <a:bodyPr wrap="square" lIns="0" tIns="0" rIns="0" bIns="0"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188720" y="3246120"/>
            <a:ext cx="3063240" cy="411480"/>
          </a:xfrm>
          <a:prstGeom prst="rect">
            <a:avLst/>
          </a:prstGeom>
          <a:noFill/>
          <a:ln/>
        </p:spPr>
        <p:txBody>
          <a:bodyPr wrap="square" lIns="0" tIns="0" rIns="0" bIns="0" rtlCol="0" anchor="ctr"/>
          <a:lstStyle/>
          <a:p>
            <a:pPr indent="0" marL="0">
              <a:buNone/>
            </a:pPr>
            <a:r>
              <a:rPr lang="en-US" sz="1600" b="1" dirty="0">
                <a:solidFill>
                  <a:srgbClr val="1B2A3F"/>
                </a:solidFill>
                <a:latin typeface="Arial" pitchFamily="34" charset="0"/>
                <a:ea typeface="Arial" pitchFamily="34" charset="-122"/>
                <a:cs typeface="Arial" pitchFamily="34" charset="-120"/>
              </a:rPr>
              <a:t>Enable static hosting</a:t>
            </a:r>
            <a:endParaRPr lang="en-US" sz="1600" dirty="0"/>
          </a:p>
        </p:txBody>
      </p:sp>
      <p:sp>
        <p:nvSpPr>
          <p:cNvPr id="19" name="Text 17"/>
          <p:cNvSpPr txBox="1"/>
          <p:nvPr/>
        </p:nvSpPr>
        <p:spPr>
          <a:xfrm>
            <a:off x="685800" y="3794760"/>
            <a:ext cx="3520440" cy="731520"/>
          </a:xfrm>
          <a:prstGeom prst="rect">
            <a:avLst/>
          </a:prstGeom>
          <a:noFill/>
          <a:ln/>
        </p:spPr>
        <p:txBody>
          <a:bodyPr wrap="square" lIns="0" tIns="0" rIns="0" bIns="0" rtlCol="0" anchor="t"/>
          <a:lstStyle/>
          <a:p>
            <a:pPr indent="0" marL="0">
              <a:buNone/>
            </a:pPr>
            <a:r>
              <a:rPr lang="en-US" sz="1400" dirty="0">
                <a:solidFill>
                  <a:srgbClr val="33445A"/>
                </a:solidFill>
                <a:latin typeface="Arial" pitchFamily="34" charset="0"/>
                <a:ea typeface="Arial" pitchFamily="34" charset="-122"/>
                <a:cs typeface="Arial" pitchFamily="34" charset="-120"/>
              </a:rPr>
              <a:t>Properties tab, Static website hosting, index document index.html.</a:t>
            </a:r>
            <a:endParaRPr lang="en-US" sz="1400" dirty="0"/>
          </a:p>
        </p:txBody>
      </p:sp>
      <p:sp>
        <p:nvSpPr>
          <p:cNvPr id="20" name="Card4"/>
          <p:cNvSpPr/>
          <p:nvPr/>
        </p:nvSpPr>
        <p:spPr>
          <a:xfrm>
            <a:off x="4709160" y="3063240"/>
            <a:ext cx="3977640" cy="1600200"/>
          </a:xfrm>
          <a:prstGeom prst="roundRect">
            <a:avLst>
              <a:gd name="adj" fmla="val 5714"/>
            </a:avLst>
          </a:prstGeom>
          <a:solidFill>
            <a:srgbClr val="F1F4F8"/>
          </a:solidFill>
          <a:ln/>
          <a:effectLst>
            <a:outerShdw sx="100000" sy="100000" kx="0" ky="0" algn="bl" rotWithShape="0" blurRad="101600" dist="25400" dir="5400000">
              <a:srgbClr val="000000">
                <a:alpha val="12000"/>
              </a:srgbClr>
            </a:outerShdw>
          </a:effectLst>
        </p:spPr>
      </p:sp>
      <p:sp>
        <p:nvSpPr>
          <p:cNvPr id="21" name="Shape 19"/>
          <p:cNvSpPr/>
          <p:nvPr/>
        </p:nvSpPr>
        <p:spPr>
          <a:xfrm>
            <a:off x="4892040" y="3246120"/>
            <a:ext cx="411480" cy="411480"/>
          </a:xfrm>
          <a:prstGeom prst="ellipse">
            <a:avLst/>
          </a:prstGeom>
          <a:solidFill>
            <a:srgbClr val="FF9900"/>
          </a:solidFill>
          <a:ln/>
        </p:spPr>
      </p:sp>
      <p:sp>
        <p:nvSpPr>
          <p:cNvPr id="22" name="Text 20"/>
          <p:cNvSpPr txBox="1"/>
          <p:nvPr/>
        </p:nvSpPr>
        <p:spPr>
          <a:xfrm>
            <a:off x="4892040" y="3246120"/>
            <a:ext cx="411480" cy="411480"/>
          </a:xfrm>
          <a:prstGeom prst="rect">
            <a:avLst/>
          </a:prstGeom>
          <a:noFill/>
          <a:ln/>
        </p:spPr>
        <p:txBody>
          <a:bodyPr wrap="square" lIns="0" tIns="0" rIns="0" bIns="0"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4</a:t>
            </a:r>
            <a:endParaRPr lang="en-US" sz="1400" dirty="0"/>
          </a:p>
        </p:txBody>
      </p:sp>
      <p:sp>
        <p:nvSpPr>
          <p:cNvPr id="23" name="Text 21"/>
          <p:cNvSpPr txBox="1"/>
          <p:nvPr/>
        </p:nvSpPr>
        <p:spPr>
          <a:xfrm>
            <a:off x="5440680" y="3246120"/>
            <a:ext cx="3063240" cy="411480"/>
          </a:xfrm>
          <a:prstGeom prst="rect">
            <a:avLst/>
          </a:prstGeom>
          <a:noFill/>
          <a:ln/>
        </p:spPr>
        <p:txBody>
          <a:bodyPr wrap="square" lIns="0" tIns="0" rIns="0" bIns="0" rtlCol="0" anchor="ctr"/>
          <a:lstStyle/>
          <a:p>
            <a:pPr indent="0" marL="0">
              <a:buNone/>
            </a:pPr>
            <a:r>
              <a:rPr lang="en-US" sz="1600" b="1" dirty="0">
                <a:solidFill>
                  <a:srgbClr val="1B2A3F"/>
                </a:solidFill>
                <a:latin typeface="Arial" pitchFamily="34" charset="0"/>
                <a:ea typeface="Arial" pitchFamily="34" charset="-122"/>
                <a:cs typeface="Arial" pitchFamily="34" charset="-120"/>
              </a:rPr>
              <a:t>Add public-read policy</a:t>
            </a:r>
            <a:endParaRPr lang="en-US" sz="1600" dirty="0"/>
          </a:p>
        </p:txBody>
      </p:sp>
      <p:sp>
        <p:nvSpPr>
          <p:cNvPr id="24" name="Text 22"/>
          <p:cNvSpPr txBox="1"/>
          <p:nvPr/>
        </p:nvSpPr>
        <p:spPr>
          <a:xfrm>
            <a:off x="4937760" y="3794760"/>
            <a:ext cx="3520440" cy="731520"/>
          </a:xfrm>
          <a:prstGeom prst="rect">
            <a:avLst/>
          </a:prstGeom>
          <a:noFill/>
          <a:ln/>
        </p:spPr>
        <p:txBody>
          <a:bodyPr wrap="square" lIns="0" tIns="0" rIns="0" bIns="0" rtlCol="0" anchor="t"/>
          <a:lstStyle/>
          <a:p>
            <a:pPr indent="0" marL="0">
              <a:buNone/>
            </a:pPr>
            <a:r>
              <a:rPr lang="en-US" sz="1400" dirty="0">
                <a:solidFill>
                  <a:srgbClr val="33445A"/>
                </a:solidFill>
                <a:latin typeface="Arial" pitchFamily="34" charset="0"/>
                <a:ea typeface="Arial" pitchFamily="34" charset="-122"/>
                <a:cs typeface="Arial" pitchFamily="34" charset="-120"/>
              </a:rPr>
              <a:t>Allow s3:GetObject for Principal * on arn:aws:s3:::q1-project-buckket/*</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latin typeface="Arial"/>
                <a:ea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457200" y="320040"/>
            <a:ext cx="6766560" cy="548640"/>
          </a:xfrm>
          <a:prstGeom prst="rect">
            <a:avLst/>
          </a:prstGeom>
          <a:noFill/>
          <a:ln/>
        </p:spPr>
        <p:txBody>
          <a:bodyPr wrap="square" lIns="0" tIns="0" rIns="0" bIns="0" rtlCol="0" anchor="ctr"/>
          <a:lstStyle/>
          <a:p>
            <a:pPr indent="0" marL="0">
              <a:buNone/>
            </a:pPr>
            <a:r>
              <a:rPr lang="en-US" sz="3000" b="1" dirty="0">
                <a:solidFill>
                  <a:srgbClr val="1B2A3F"/>
                </a:solidFill>
                <a:latin typeface="Arial" pitchFamily="34" charset="0"/>
                <a:ea typeface="Arial" pitchFamily="34" charset="-122"/>
                <a:cs typeface="Arial" pitchFamily="34" charset="-120"/>
              </a:rPr>
              <a:t>The live website</a:t>
            </a:r>
            <a:endParaRPr lang="en-US" sz="3000" dirty="0"/>
          </a:p>
        </p:txBody>
      </p:sp>
      <p:sp>
        <p:nvSpPr>
          <p:cNvPr id="3" name="Tag"/>
          <p:cNvSpPr/>
          <p:nvPr/>
        </p:nvSpPr>
        <p:spPr>
          <a:xfrm>
            <a:off x="7406640" y="411480"/>
            <a:ext cx="1280160" cy="365760"/>
          </a:xfrm>
          <a:prstGeom prst="roundRect">
            <a:avLst>
              <a:gd name="adj" fmla="val 50000"/>
            </a:avLst>
          </a:prstGeom>
          <a:solidFill>
            <a:srgbClr val="FF9900"/>
          </a:solidFill>
          <a:ln/>
        </p:spPr>
      </p:sp>
      <p:sp>
        <p:nvSpPr>
          <p:cNvPr id="4" name="TagText"/>
          <p:cNvSpPr txBox="1"/>
          <p:nvPr/>
        </p:nvSpPr>
        <p:spPr>
          <a:xfrm>
            <a:off x="7406640" y="411480"/>
            <a:ext cx="1280160" cy="365760"/>
          </a:xfrm>
          <a:prstGeom prst="rect">
            <a:avLst/>
          </a:prstGeom>
          <a:noFill/>
          <a:ln/>
        </p:spPr>
        <p:txBody>
          <a:bodyPr wrap="square" lIns="0" tIns="0" rIns="0" bIns="0" rtlCol="0" anchor="ctr"/>
          <a:lstStyle/>
          <a:p>
            <a:pPr algn="ctr" indent="0" marL="0">
              <a:buNone/>
            </a:pPr>
            <a:r>
              <a:rPr lang="en-US" sz="1100" b="1" dirty="0">
                <a:solidFill>
                  <a:srgbClr val="0F1B2D"/>
                </a:solidFill>
                <a:latin typeface="Arial" pitchFamily="34" charset="0"/>
                <a:ea typeface="Arial" pitchFamily="34" charset="-122"/>
                <a:cs typeface="Arial" pitchFamily="34" charset="-120"/>
              </a:rPr>
              <a:t>Q1 · Amazon S3</a:t>
            </a:r>
            <a:endParaRPr lang="en-US" sz="1100" dirty="0"/>
          </a:p>
        </p:txBody>
      </p:sp>
      <p:sp>
        <p:nvSpPr>
          <p:cNvPr id="5" name="Shape 3"/>
          <p:cNvSpPr/>
          <p:nvPr/>
        </p:nvSpPr>
        <p:spPr>
          <a:xfrm>
            <a:off x="457200" y="1005840"/>
            <a:ext cx="8229600" cy="365760"/>
          </a:xfrm>
          <a:prstGeom prst="roundRect">
            <a:avLst>
              <a:gd name="adj" fmla="val 50000"/>
            </a:avLst>
          </a:prstGeom>
          <a:solidFill>
            <a:srgbClr val="0F1B2D"/>
          </a:solidFill>
          <a:ln/>
        </p:spPr>
      </p:sp>
      <p:sp>
        <p:nvSpPr>
          <p:cNvPr id="6" name="Text 4"/>
          <p:cNvSpPr txBox="1"/>
          <p:nvPr/>
        </p:nvSpPr>
        <p:spPr>
          <a:xfrm>
            <a:off x="457200" y="1005840"/>
            <a:ext cx="8229600" cy="365760"/>
          </a:xfrm>
          <a:prstGeom prst="rect">
            <a:avLst/>
          </a:prstGeom>
          <a:noFill/>
          <a:ln/>
        </p:spPr>
        <p:txBody>
          <a:bodyPr wrap="square" lIns="0" tIns="0" rIns="0" bIns="0" rtlCol="0" anchor="ctr"/>
          <a:lstStyle/>
          <a:p>
            <a:pPr algn="ctr" indent="0" marL="0">
              <a:buNone/>
            </a:pPr>
            <a:r>
              <a:rPr lang="en-US" sz="1400" b="1" dirty="0">
                <a:solidFill>
                  <a:srgbClr val="FF9900"/>
                </a:solidFill>
                <a:latin typeface="Arial" pitchFamily="34" charset="0"/>
                <a:ea typeface="Arial" pitchFamily="34" charset="-122"/>
                <a:cs typeface="Arial" pitchFamily="34" charset="-120"/>
              </a:rPr>
              <a:t>http://q1-project-buckket.s3-website.ap-south-1.amazonaws.com</a:t>
            </a:r>
            <a:endParaRPr lang="en-US" sz="1400" dirty="0"/>
          </a:p>
        </p:txBody>
      </p:sp>
      <p:sp>
        <p:nvSpPr>
          <p:cNvPr id="7" name="Shape 5"/>
          <p:cNvSpPr/>
          <p:nvPr/>
        </p:nvSpPr>
        <p:spPr>
          <a:xfrm>
            <a:off x="502920" y="1600200"/>
            <a:ext cx="4846320" cy="1610360"/>
          </a:xfrm>
          <a:prstGeom prst="rect">
            <a:avLst/>
          </a:prstGeom>
          <a:solidFill>
            <a:srgbClr val="FFFFFF"/>
          </a:solidFill>
          <a:ln w="12700">
            <a:solidFill>
              <a:srgbClr val="D9E2EC"/>
            </a:solidFill>
            <a:prstDash val="solid"/>
          </a:ln>
          <a:effectLst>
            <a:outerShdw sx="100000" sy="100000" kx="0" ky="0" algn="bl" rotWithShape="0" blurRad="101600" dist="25400" dir="5400000">
              <a:srgbClr val="000000">
                <a:alpha val="12000"/>
              </a:srgbClr>
            </a:outerShdw>
          </a:effectLst>
        </p:spPr>
      </p:sp>
      <p:pic>
        <p:nvPicPr>
          <p:cNvPr id="8" name="Image 0" descr="/home/claude/w/q1/ppt/media/image-9-1.png">    </p:cNvPr>
          <p:cNvPicPr>
            <a:picLocks noChangeAspect="1"/>
          </p:cNvPicPr>
          <p:nvPr/>
        </p:nvPicPr>
        <p:blipFill>
          <a:blip r:embed="rId1"/>
          <a:stretch>
            <a:fillRect/>
          </a:stretch>
        </p:blipFill>
        <p:spPr>
          <a:xfrm>
            <a:off x="548640" y="1645920"/>
            <a:ext cx="4754880" cy="1518920"/>
          </a:xfrm>
          <a:prstGeom prst="rect">
            <a:avLst/>
          </a:prstGeom>
        </p:spPr>
      </p:pic>
      <p:sp>
        <p:nvSpPr>
          <p:cNvPr id="9" name="Shape 6"/>
          <p:cNvSpPr/>
          <p:nvPr/>
        </p:nvSpPr>
        <p:spPr>
          <a:xfrm>
            <a:off x="502920" y="3337560"/>
            <a:ext cx="4846320" cy="1610360"/>
          </a:xfrm>
          <a:prstGeom prst="rect">
            <a:avLst/>
          </a:prstGeom>
          <a:solidFill>
            <a:srgbClr val="FFFFFF"/>
          </a:solidFill>
          <a:ln w="12700">
            <a:solidFill>
              <a:srgbClr val="D9E2EC"/>
            </a:solidFill>
            <a:prstDash val="solid"/>
          </a:ln>
          <a:effectLst>
            <a:outerShdw sx="100000" sy="100000" kx="0" ky="0" algn="bl" rotWithShape="0" blurRad="101600" dist="25400" dir="5400000">
              <a:srgbClr val="000000">
                <a:alpha val="12000"/>
              </a:srgbClr>
            </a:outerShdw>
          </a:effectLst>
        </p:spPr>
      </p:sp>
      <p:pic>
        <p:nvPicPr>
          <p:cNvPr id="10" name="Image 1" descr="/home/claude/w/q1/ppt/media/image-9-2.png">    </p:cNvPr>
          <p:cNvPicPr>
            <a:picLocks noChangeAspect="1"/>
          </p:cNvPicPr>
          <p:nvPr/>
        </p:nvPicPr>
        <p:blipFill>
          <a:blip r:embed="rId2"/>
          <a:stretch>
            <a:fillRect/>
          </a:stretch>
        </p:blipFill>
        <p:spPr>
          <a:xfrm>
            <a:off x="548640" y="3383280"/>
            <a:ext cx="4754880" cy="1518920"/>
          </a:xfrm>
          <a:prstGeom prst="rect">
            <a:avLst/>
          </a:prstGeom>
        </p:spPr>
      </p:pic>
      <p:sp>
        <p:nvSpPr>
          <p:cNvPr id="11" name="Text 7"/>
          <p:cNvSpPr txBox="1"/>
          <p:nvPr/>
        </p:nvSpPr>
        <p:spPr>
          <a:xfrm>
            <a:off x="5669280" y="2103120"/>
            <a:ext cx="3017520" cy="365760"/>
          </a:xfrm>
          <a:prstGeom prst="rect">
            <a:avLst/>
          </a:prstGeom>
          <a:noFill/>
          <a:ln/>
        </p:spPr>
        <p:txBody>
          <a:bodyPr wrap="square" lIns="0" tIns="0" rIns="0" bIns="0" rtlCol="0" anchor="ctr"/>
          <a:lstStyle/>
          <a:p>
            <a:pPr indent="0" marL="0">
              <a:buNone/>
            </a:pPr>
            <a:r>
              <a:rPr lang="en-US" sz="1800" b="1" dirty="0">
                <a:solidFill>
                  <a:srgbClr val="1B2A3F"/>
                </a:solidFill>
                <a:latin typeface="Arial" pitchFamily="34" charset="0"/>
                <a:ea typeface="Arial" pitchFamily="34" charset="-122"/>
                <a:cs typeface="Arial" pitchFamily="34" charset="-120"/>
              </a:rPr>
              <a:t>Before clicking</a:t>
            </a:r>
            <a:endParaRPr lang="en-US" sz="1800" dirty="0"/>
          </a:p>
        </p:txBody>
      </p:sp>
      <p:sp>
        <p:nvSpPr>
          <p:cNvPr id="12" name="Text 8"/>
          <p:cNvSpPr txBox="1"/>
          <p:nvPr/>
        </p:nvSpPr>
        <p:spPr>
          <a:xfrm>
            <a:off x="5669280" y="2514600"/>
            <a:ext cx="3017520" cy="640080"/>
          </a:xfrm>
          <a:prstGeom prst="rect">
            <a:avLst/>
          </a:prstGeom>
          <a:noFill/>
          <a:ln/>
        </p:spPr>
        <p:txBody>
          <a:bodyPr wrap="square" lIns="0" tIns="0" rIns="0" bIns="0" rtlCol="0" anchor="t"/>
          <a:lstStyle/>
          <a:p>
            <a:pPr indent="0" marL="0">
              <a:buNone/>
            </a:pPr>
            <a:r>
              <a:rPr lang="en-US" sz="1400" dirty="0">
                <a:solidFill>
                  <a:srgbClr val="33445A"/>
                </a:solidFill>
                <a:latin typeface="Arial" pitchFamily="34" charset="0"/>
                <a:ea typeface="Arial" pitchFamily="34" charset="-122"/>
                <a:cs typeface="Arial" pitchFamily="34" charset="-120"/>
              </a:rPr>
              <a:t>The page loads with the heading and the "Show current time" button.</a:t>
            </a:r>
            <a:endParaRPr lang="en-US" sz="1400" dirty="0"/>
          </a:p>
        </p:txBody>
      </p:sp>
      <p:sp>
        <p:nvSpPr>
          <p:cNvPr id="13" name="Text 9"/>
          <p:cNvSpPr txBox="1"/>
          <p:nvPr/>
        </p:nvSpPr>
        <p:spPr>
          <a:xfrm>
            <a:off x="5669280" y="3840480"/>
            <a:ext cx="3017520" cy="365760"/>
          </a:xfrm>
          <a:prstGeom prst="rect">
            <a:avLst/>
          </a:prstGeom>
          <a:noFill/>
          <a:ln/>
        </p:spPr>
        <p:txBody>
          <a:bodyPr wrap="square" lIns="0" tIns="0" rIns="0" bIns="0" rtlCol="0" anchor="ctr"/>
          <a:lstStyle/>
          <a:p>
            <a:pPr indent="0" marL="0">
              <a:buNone/>
            </a:pPr>
            <a:r>
              <a:rPr lang="en-US" sz="1800" b="1" dirty="0">
                <a:solidFill>
                  <a:srgbClr val="1B2A3F"/>
                </a:solidFill>
                <a:latin typeface="Arial" pitchFamily="34" charset="0"/>
                <a:ea typeface="Arial" pitchFamily="34" charset="-122"/>
                <a:cs typeface="Arial" pitchFamily="34" charset="-120"/>
              </a:rPr>
              <a:t>After clicking</a:t>
            </a:r>
            <a:endParaRPr lang="en-US" sz="1800" dirty="0"/>
          </a:p>
        </p:txBody>
      </p:sp>
      <p:sp>
        <p:nvSpPr>
          <p:cNvPr id="14" name="Text 10"/>
          <p:cNvSpPr txBox="1"/>
          <p:nvPr/>
        </p:nvSpPr>
        <p:spPr>
          <a:xfrm>
            <a:off x="5669280" y="4251960"/>
            <a:ext cx="3017520" cy="457200"/>
          </a:xfrm>
          <a:prstGeom prst="rect">
            <a:avLst/>
          </a:prstGeom>
          <a:noFill/>
          <a:ln/>
        </p:spPr>
        <p:txBody>
          <a:bodyPr wrap="square" lIns="0" tIns="0" rIns="0" bIns="0" rtlCol="0" anchor="t"/>
          <a:lstStyle/>
          <a:p>
            <a:pPr indent="0" marL="0">
              <a:buNone/>
            </a:pPr>
            <a:r>
              <a:rPr lang="en-US" sz="1400" dirty="0">
                <a:solidFill>
                  <a:srgbClr val="33445A"/>
                </a:solidFill>
                <a:latin typeface="Arial" pitchFamily="34" charset="0"/>
                <a:ea typeface="Arial" pitchFamily="34" charset="-122"/>
                <a:cs typeface="Arial" pitchFamily="34" charset="-120"/>
              </a:rPr>
              <a:t>script.js writes the current date and time on the page.</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Badge"/>
          <p:cNvSpPr/>
          <p:nvPr/>
        </p:nvSpPr>
        <p:spPr>
          <a:xfrm>
            <a:off x="548640" y="731520"/>
            <a:ext cx="1371600" cy="1371600"/>
          </a:xfrm>
          <a:prstGeom prst="ellipse">
            <a:avLst/>
          </a:prstGeom>
          <a:solidFill>
            <a:srgbClr val="0E7C7B"/>
          </a:solidFill>
          <a:ln/>
        </p:spPr>
      </p:sp>
      <p:sp>
        <p:nvSpPr>
          <p:cNvPr id="3" name="Text 1"/>
          <p:cNvSpPr txBox="1"/>
          <p:nvPr/>
        </p:nvSpPr>
        <p:spPr>
          <a:xfrm>
            <a:off x="548640" y="731520"/>
            <a:ext cx="1371600" cy="137160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Q2</a:t>
            </a:r>
            <a:endParaRPr lang="en-US" sz="4000" dirty="0"/>
          </a:p>
        </p:txBody>
      </p:sp>
      <p:sp>
        <p:nvSpPr>
          <p:cNvPr id="4" name="Text 2"/>
          <p:cNvSpPr txBox="1"/>
          <p:nvPr/>
        </p:nvSpPr>
        <p:spPr>
          <a:xfrm>
            <a:off x="2194560" y="685800"/>
            <a:ext cx="6492240" cy="91440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Custom VPC with an Ubuntu Web Server</a:t>
            </a:r>
            <a:endParaRPr lang="en-US" sz="3400" dirty="0"/>
          </a:p>
        </p:txBody>
      </p:sp>
      <p:sp>
        <p:nvSpPr>
          <p:cNvPr id="5" name="Text 3"/>
          <p:cNvSpPr txBox="1"/>
          <p:nvPr/>
        </p:nvSpPr>
        <p:spPr>
          <a:xfrm>
            <a:off x="2194560" y="1645920"/>
            <a:ext cx="6492240" cy="457200"/>
          </a:xfrm>
          <a:prstGeom prst="rect">
            <a:avLst/>
          </a:prstGeom>
          <a:noFill/>
          <a:ln/>
        </p:spPr>
        <p:txBody>
          <a:bodyPr wrap="square" lIns="0" tIns="0" rIns="0" bIns="0" rtlCol="0" anchor="t"/>
          <a:lstStyle/>
          <a:p>
            <a:pPr indent="0" marL="0">
              <a:buNone/>
            </a:pPr>
            <a:r>
              <a:rPr lang="en-US" sz="1600" dirty="0">
                <a:solidFill>
                  <a:srgbClr val="B8C7DA"/>
                </a:solidFill>
                <a:latin typeface="Arial" pitchFamily="34" charset="0"/>
                <a:ea typeface="Arial" pitchFamily="34" charset="-122"/>
                <a:cs typeface="Arial" pitchFamily="34" charset="-120"/>
              </a:rPr>
              <a:t>VPC, public subnet, Internet Gateway, EC2 and Nginx</a:t>
            </a:r>
            <a:endParaRPr lang="en-US" sz="1600" dirty="0"/>
          </a:p>
        </p:txBody>
      </p:sp>
      <p:sp>
        <p:nvSpPr>
          <p:cNvPr id="6" name="QuestionCard"/>
          <p:cNvSpPr/>
          <p:nvPr/>
        </p:nvSpPr>
        <p:spPr>
          <a:xfrm>
            <a:off x="548640" y="2651760"/>
            <a:ext cx="8046720" cy="1828800"/>
          </a:xfrm>
          <a:prstGeom prst="roundRect">
            <a:avLst>
              <a:gd name="adj" fmla="val 6000"/>
            </a:avLst>
          </a:prstGeom>
          <a:solidFill>
            <a:srgbClr val="1B2D45"/>
          </a:solidFill>
          <a:ln/>
        </p:spPr>
      </p:sp>
      <p:sp>
        <p:nvSpPr>
          <p:cNvPr id="7" name="Text 5"/>
          <p:cNvSpPr txBox="1"/>
          <p:nvPr/>
        </p:nvSpPr>
        <p:spPr>
          <a:xfrm>
            <a:off x="822960" y="2834640"/>
            <a:ext cx="2743200" cy="274320"/>
          </a:xfrm>
          <a:prstGeom prst="rect">
            <a:avLst/>
          </a:prstGeom>
          <a:noFill/>
          <a:ln/>
        </p:spPr>
        <p:txBody>
          <a:bodyPr wrap="square" lIns="0" tIns="0" rIns="0" bIns="0" rtlCol="0" anchor="ctr"/>
          <a:lstStyle/>
          <a:p>
            <a:pPr indent="0" marL="0">
              <a:buNone/>
            </a:pPr>
            <a:r>
              <a:rPr lang="en-US" sz="1200" b="1" spc="300" kern="0" dirty="0">
                <a:solidFill>
                  <a:srgbClr val="0E7C7B"/>
                </a:solidFill>
                <a:latin typeface="Arial" pitchFamily="34" charset="0"/>
                <a:ea typeface="Arial" pitchFamily="34" charset="-122"/>
                <a:cs typeface="Arial" pitchFamily="34" charset="-120"/>
              </a:rPr>
              <a:t>QUESTION</a:t>
            </a:r>
            <a:endParaRPr lang="en-US" sz="1200" dirty="0"/>
          </a:p>
        </p:txBody>
      </p:sp>
      <p:sp>
        <p:nvSpPr>
          <p:cNvPr id="8" name="Text 6"/>
          <p:cNvSpPr txBox="1"/>
          <p:nvPr/>
        </p:nvSpPr>
        <p:spPr>
          <a:xfrm>
            <a:off x="822960" y="3154680"/>
            <a:ext cx="7498080" cy="1188720"/>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Create a custom AWS VPC with one public subnet and deploy an Ubuntu EC2 instance. Configure an Internet Gateway, route table, and Security Group, install Apache or Nginx on the instance, and host a basic HTML webpage accessible through the public IP.</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457200" y="320040"/>
            <a:ext cx="6766560" cy="548640"/>
          </a:xfrm>
          <a:prstGeom prst="rect">
            <a:avLst/>
          </a:prstGeom>
          <a:noFill/>
          <a:ln/>
        </p:spPr>
        <p:txBody>
          <a:bodyPr wrap="square" lIns="0" tIns="0" rIns="0" bIns="0" rtlCol="0" anchor="ctr"/>
          <a:lstStyle/>
          <a:p>
            <a:pPr indent="0" marL="0">
              <a:buNone/>
            </a:pPr>
            <a:r>
              <a:rPr lang="en-US" sz="3000" b="1" dirty="0">
                <a:solidFill>
                  <a:srgbClr val="1B2A3F"/>
                </a:solidFill>
                <a:latin typeface="Arial" pitchFamily="34" charset="0"/>
                <a:ea typeface="Arial" pitchFamily="34" charset="-122"/>
                <a:cs typeface="Arial" pitchFamily="34" charset="-120"/>
              </a:rPr>
              <a:t>Components</a:t>
            </a:r>
            <a:endParaRPr lang="en-US" sz="3000" dirty="0"/>
          </a:p>
        </p:txBody>
      </p:sp>
      <p:sp>
        <p:nvSpPr>
          <p:cNvPr id="3" name="Tag"/>
          <p:cNvSpPr/>
          <p:nvPr/>
        </p:nvSpPr>
        <p:spPr>
          <a:xfrm>
            <a:off x="7406640" y="411480"/>
            <a:ext cx="1280160" cy="365760"/>
          </a:xfrm>
          <a:prstGeom prst="roundRect">
            <a:avLst>
              <a:gd name="adj" fmla="val 50000"/>
            </a:avLst>
          </a:prstGeom>
          <a:solidFill>
            <a:srgbClr val="0E7C7B"/>
          </a:solidFill>
          <a:ln/>
        </p:spPr>
      </p:sp>
      <p:sp>
        <p:nvSpPr>
          <p:cNvPr id="4" name="TagText"/>
          <p:cNvSpPr txBox="1"/>
          <p:nvPr/>
        </p:nvSpPr>
        <p:spPr>
          <a:xfrm>
            <a:off x="7406640" y="411480"/>
            <a:ext cx="12801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Q2 · VPC + EC2</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560320"/>
                <a:gridCol w="5669280"/>
              </a:tblGrid>
              <a:tr h="0">
                <a:tc>
                  <a:txBody>
                    <a:bodyPr/>
                    <a:lstStyle/>
                    <a:p>
                      <a:pPr indent="0" marL="0">
                        <a:buNone/>
                      </a:pPr>
                      <a:r>
                        <a:rPr lang="en-US" sz="1400" b="1" dirty="0">
                          <a:solidFill>
                            <a:srgbClr val="FFFFFF"/>
                          </a:solidFill>
                          <a:latin typeface="Arial" pitchFamily="34" charset="0"/>
                          <a:ea typeface="Arial" pitchFamily="34" charset="-122"/>
                          <a:cs typeface="Arial" pitchFamily="34" charset="-120"/>
                        </a:rPr>
                        <a:t>Component</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Role</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0E7C7B"/>
                    </a:solidFill>
                  </a:tcPr>
                </a:tc>
              </a:tr>
              <a:tr h="0">
                <a:tc>
                  <a:txBody>
                    <a:bodyPr/>
                    <a:lstStyle/>
                    <a:p>
                      <a:pPr indent="0" marL="0">
                        <a:buNone/>
                      </a:pPr>
                      <a:r>
                        <a:rPr lang="en-US" sz="1400" dirty="0">
                          <a:solidFill>
                            <a:srgbClr val="1B2A3F"/>
                          </a:solidFill>
                          <a:latin typeface="Arial" pitchFamily="34" charset="0"/>
                          <a:ea typeface="Arial" pitchFamily="34" charset="-122"/>
                          <a:cs typeface="Arial" pitchFamily="34" charset="-120"/>
                        </a:rPr>
                        <a:t>VPC</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1F4F8"/>
                    </a:solidFill>
                  </a:tcPr>
                </a:tc>
                <a:tc>
                  <a:txBody>
                    <a:bodyPr/>
                    <a:lstStyle/>
                    <a:p>
                      <a:pPr indent="0" marL="0">
                        <a:buNone/>
                      </a:pPr>
                      <a:r>
                        <a:rPr lang="en-US" sz="1400" dirty="0">
                          <a:solidFill>
                            <a:srgbClr val="1B2A3F"/>
                          </a:solidFill>
                          <a:latin typeface="Arial" pitchFamily="34" charset="0"/>
                          <a:ea typeface="Arial" pitchFamily="34" charset="-122"/>
                          <a:cs typeface="Arial" pitchFamily="34" charset="-120"/>
                        </a:rPr>
                        <a:t>Isolated private network (10.0.0.0/16)</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1F4F8"/>
                    </a:solidFill>
                  </a:tcPr>
                </a:tc>
              </a:tr>
              <a:tr h="0">
                <a:tc>
                  <a:txBody>
                    <a:bodyPr/>
                    <a:lstStyle/>
                    <a:p>
                      <a:pPr indent="0" marL="0">
                        <a:buNone/>
                      </a:pPr>
                      <a:r>
                        <a:rPr lang="en-US" sz="1400" dirty="0">
                          <a:solidFill>
                            <a:srgbClr val="1B2A3F"/>
                          </a:solidFill>
                          <a:latin typeface="Arial" pitchFamily="34" charset="0"/>
                          <a:ea typeface="Arial" pitchFamily="34" charset="-122"/>
                          <a:cs typeface="Arial" pitchFamily="34" charset="-120"/>
                        </a:rPr>
                        <a:t>Public subnet</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B2A3F"/>
                          </a:solidFill>
                          <a:latin typeface="Arial" pitchFamily="34" charset="0"/>
                          <a:ea typeface="Arial" pitchFamily="34" charset="-122"/>
                          <a:cs typeface="Arial" pitchFamily="34" charset="-120"/>
                        </a:rPr>
                        <a:t>Address range for the server (10.0.1.0/24)</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2A3F"/>
                          </a:solidFill>
                          <a:latin typeface="Arial" pitchFamily="34" charset="0"/>
                          <a:ea typeface="Arial" pitchFamily="34" charset="-122"/>
                          <a:cs typeface="Arial" pitchFamily="34" charset="-120"/>
                        </a:rPr>
                        <a:t>Internet Gateway</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1F4F8"/>
                    </a:solidFill>
                  </a:tcPr>
                </a:tc>
                <a:tc>
                  <a:txBody>
                    <a:bodyPr/>
                    <a:lstStyle/>
                    <a:p>
                      <a:pPr indent="0" marL="0">
                        <a:buNone/>
                      </a:pPr>
                      <a:r>
                        <a:rPr lang="en-US" sz="1400" dirty="0">
                          <a:solidFill>
                            <a:srgbClr val="1B2A3F"/>
                          </a:solidFill>
                          <a:latin typeface="Arial" pitchFamily="34" charset="0"/>
                          <a:ea typeface="Arial" pitchFamily="34" charset="-122"/>
                          <a:cs typeface="Arial" pitchFamily="34" charset="-120"/>
                        </a:rPr>
                        <a:t>Door between the VPC and the internet</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1F4F8"/>
                    </a:solidFill>
                  </a:tcPr>
                </a:tc>
              </a:tr>
              <a:tr h="0">
                <a:tc>
                  <a:txBody>
                    <a:bodyPr/>
                    <a:lstStyle/>
                    <a:p>
                      <a:pPr indent="0" marL="0">
                        <a:buNone/>
                      </a:pPr>
                      <a:r>
                        <a:rPr lang="en-US" sz="1400" dirty="0">
                          <a:solidFill>
                            <a:srgbClr val="1B2A3F"/>
                          </a:solidFill>
                          <a:latin typeface="Arial" pitchFamily="34" charset="0"/>
                          <a:ea typeface="Arial" pitchFamily="34" charset="-122"/>
                          <a:cs typeface="Arial" pitchFamily="34" charset="-120"/>
                        </a:rPr>
                        <a:t>Route table</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B2A3F"/>
                          </a:solidFill>
                          <a:latin typeface="Arial" pitchFamily="34" charset="0"/>
                          <a:ea typeface="Arial" pitchFamily="34" charset="-122"/>
                          <a:cs typeface="Arial" pitchFamily="34" charset="-120"/>
                        </a:rPr>
                        <a:t>Sends 0.0.0.0/0 traffic to the gateway</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2A3F"/>
                          </a:solidFill>
                          <a:latin typeface="Arial" pitchFamily="34" charset="0"/>
                          <a:ea typeface="Arial" pitchFamily="34" charset="-122"/>
                          <a:cs typeface="Arial" pitchFamily="34" charset="-120"/>
                        </a:rPr>
                        <a:t>Security group</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1F4F8"/>
                    </a:solidFill>
                  </a:tcPr>
                </a:tc>
                <a:tc>
                  <a:txBody>
                    <a:bodyPr/>
                    <a:lstStyle/>
                    <a:p>
                      <a:pPr indent="0" marL="0">
                        <a:buNone/>
                      </a:pPr>
                      <a:r>
                        <a:rPr lang="en-US" sz="1400" dirty="0">
                          <a:solidFill>
                            <a:srgbClr val="1B2A3F"/>
                          </a:solidFill>
                          <a:latin typeface="Arial" pitchFamily="34" charset="0"/>
                          <a:ea typeface="Arial" pitchFamily="34" charset="-122"/>
                          <a:cs typeface="Arial" pitchFamily="34" charset="-120"/>
                        </a:rPr>
                        <a:t>Firewall allowing SSH (22) and HTTP (80)</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1F4F8"/>
                    </a:solidFill>
                  </a:tcPr>
                </a:tc>
              </a:tr>
              <a:tr h="0">
                <a:tc>
                  <a:txBody>
                    <a:bodyPr/>
                    <a:lstStyle/>
                    <a:p>
                      <a:pPr indent="0" marL="0">
                        <a:buNone/>
                      </a:pPr>
                      <a:r>
                        <a:rPr lang="en-US" sz="1400" dirty="0">
                          <a:solidFill>
                            <a:srgbClr val="1B2A3F"/>
                          </a:solidFill>
                          <a:latin typeface="Arial" pitchFamily="34" charset="0"/>
                          <a:ea typeface="Arial" pitchFamily="34" charset="-122"/>
                          <a:cs typeface="Arial" pitchFamily="34" charset="-120"/>
                        </a:rPr>
                        <a:t>EC2 and Nginx</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B2A3F"/>
                          </a:solidFill>
                          <a:latin typeface="Arial" pitchFamily="34" charset="0"/>
                          <a:ea typeface="Arial" pitchFamily="34" charset="-122"/>
                          <a:cs typeface="Arial" pitchFamily="34" charset="-120"/>
                        </a:rPr>
                        <a:t>Ubuntu server that serves the HTML page</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457200" y="320040"/>
            <a:ext cx="6766560" cy="548640"/>
          </a:xfrm>
          <a:prstGeom prst="rect">
            <a:avLst/>
          </a:prstGeom>
          <a:noFill/>
          <a:ln/>
        </p:spPr>
        <p:txBody>
          <a:bodyPr wrap="square" lIns="0" tIns="0" rIns="0" bIns="0" rtlCol="0" anchor="ctr"/>
          <a:lstStyle/>
          <a:p>
            <a:pPr indent="0" marL="0">
              <a:buNone/>
            </a:pPr>
            <a:r>
              <a:rPr lang="en-US" sz="3000" b="1" dirty="0">
                <a:solidFill>
                  <a:srgbClr val="1B2A3F"/>
                </a:solidFill>
                <a:latin typeface="Arial" pitchFamily="34" charset="0"/>
                <a:ea typeface="Arial" pitchFamily="34" charset="-122"/>
                <a:cs typeface="Arial" pitchFamily="34" charset="-120"/>
              </a:rPr>
              <a:t>Network and server setup</a:t>
            </a:r>
            <a:endParaRPr lang="en-US" sz="3000" dirty="0"/>
          </a:p>
        </p:txBody>
      </p:sp>
      <p:sp>
        <p:nvSpPr>
          <p:cNvPr id="3" name="Tag"/>
          <p:cNvSpPr/>
          <p:nvPr/>
        </p:nvSpPr>
        <p:spPr>
          <a:xfrm>
            <a:off x="7406640" y="411480"/>
            <a:ext cx="1280160" cy="365760"/>
          </a:xfrm>
          <a:prstGeom prst="roundRect">
            <a:avLst>
              <a:gd name="adj" fmla="val 50000"/>
            </a:avLst>
          </a:prstGeom>
          <a:solidFill>
            <a:srgbClr val="0E7C7B"/>
          </a:solidFill>
          <a:ln/>
        </p:spPr>
      </p:sp>
      <p:sp>
        <p:nvSpPr>
          <p:cNvPr id="4" name="TagText"/>
          <p:cNvSpPr txBox="1"/>
          <p:nvPr/>
        </p:nvSpPr>
        <p:spPr>
          <a:xfrm>
            <a:off x="7406640" y="411480"/>
            <a:ext cx="12801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Q2 · VPC + EC2</a:t>
            </a:r>
            <a:endParaRPr lang="en-US" sz="1100" dirty="0"/>
          </a:p>
        </p:txBody>
      </p:sp>
      <p:sp>
        <p:nvSpPr>
          <p:cNvPr id="5" name="Card1"/>
          <p:cNvSpPr/>
          <p:nvPr/>
        </p:nvSpPr>
        <p:spPr>
          <a:xfrm>
            <a:off x="457200" y="1554480"/>
            <a:ext cx="2560320" cy="1371600"/>
          </a:xfrm>
          <a:prstGeom prst="roundRect">
            <a:avLst>
              <a:gd name="adj" fmla="val 6667"/>
            </a:avLst>
          </a:prstGeom>
          <a:solidFill>
            <a:srgbClr val="F1F4F8"/>
          </a:solidFill>
          <a:ln/>
          <a:effectLst>
            <a:outerShdw sx="100000" sy="100000" kx="0" ky="0" algn="bl" rotWithShape="0" blurRad="101600" dist="25400" dir="5400000">
              <a:srgbClr val="000000">
                <a:alpha val="12000"/>
              </a:srgbClr>
            </a:outerShdw>
          </a:effectLst>
        </p:spPr>
      </p:sp>
      <p:sp>
        <p:nvSpPr>
          <p:cNvPr id="6" name="Shape 4"/>
          <p:cNvSpPr/>
          <p:nvPr/>
        </p:nvSpPr>
        <p:spPr>
          <a:xfrm>
            <a:off x="640080" y="1737360"/>
            <a:ext cx="411480" cy="411480"/>
          </a:xfrm>
          <a:prstGeom prst="ellipse">
            <a:avLst/>
          </a:prstGeom>
          <a:solidFill>
            <a:srgbClr val="0E7C7B"/>
          </a:solidFill>
          <a:ln/>
        </p:spPr>
      </p:sp>
      <p:sp>
        <p:nvSpPr>
          <p:cNvPr id="7" name="Text 5"/>
          <p:cNvSpPr txBox="1"/>
          <p:nvPr/>
        </p:nvSpPr>
        <p:spPr>
          <a:xfrm>
            <a:off x="640080" y="17373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txBox="1"/>
          <p:nvPr/>
        </p:nvSpPr>
        <p:spPr>
          <a:xfrm>
            <a:off x="1188720" y="1737360"/>
            <a:ext cx="1645920" cy="411480"/>
          </a:xfrm>
          <a:prstGeom prst="rect">
            <a:avLst/>
          </a:prstGeom>
          <a:noFill/>
          <a:ln/>
        </p:spPr>
        <p:txBody>
          <a:bodyPr wrap="square" lIns="0" tIns="0" rIns="0" bIns="0" rtlCol="0" anchor="ctr"/>
          <a:lstStyle/>
          <a:p>
            <a:pPr indent="0" marL="0">
              <a:buNone/>
            </a:pPr>
            <a:r>
              <a:rPr lang="en-US" sz="1600" b="1" dirty="0">
                <a:solidFill>
                  <a:srgbClr val="1B2A3F"/>
                </a:solidFill>
                <a:latin typeface="Arial" pitchFamily="34" charset="0"/>
                <a:ea typeface="Arial" pitchFamily="34" charset="-122"/>
                <a:cs typeface="Arial" pitchFamily="34" charset="-120"/>
              </a:rPr>
              <a:t>VPC</a:t>
            </a:r>
            <a:endParaRPr lang="en-US" sz="1600" dirty="0"/>
          </a:p>
        </p:txBody>
      </p:sp>
      <p:sp>
        <p:nvSpPr>
          <p:cNvPr id="9" name="Text 7"/>
          <p:cNvSpPr txBox="1"/>
          <p:nvPr/>
        </p:nvSpPr>
        <p:spPr>
          <a:xfrm>
            <a:off x="685800" y="2286000"/>
            <a:ext cx="2103120" cy="502920"/>
          </a:xfrm>
          <a:prstGeom prst="rect">
            <a:avLst/>
          </a:prstGeom>
          <a:noFill/>
          <a:ln/>
        </p:spPr>
        <p:txBody>
          <a:bodyPr wrap="square" lIns="0" tIns="0" rIns="0" bIns="0" rtlCol="0" anchor="t"/>
          <a:lstStyle/>
          <a:p>
            <a:pPr indent="0" marL="0">
              <a:buNone/>
            </a:pPr>
            <a:r>
              <a:rPr lang="en-US" sz="1400" dirty="0">
                <a:solidFill>
                  <a:srgbClr val="33445A"/>
                </a:solidFill>
                <a:latin typeface="Arial" pitchFamily="34" charset="0"/>
                <a:ea typeface="Arial" pitchFamily="34" charset="-122"/>
                <a:cs typeface="Arial" pitchFamily="34" charset="-120"/>
              </a:rPr>
              <a:t>my-web-vpc, CIDR 10.0.0.0/16, VPC only.</a:t>
            </a:r>
            <a:endParaRPr lang="en-US" sz="1400" dirty="0"/>
          </a:p>
        </p:txBody>
      </p:sp>
      <p:sp>
        <p:nvSpPr>
          <p:cNvPr id="10" name="Card2"/>
          <p:cNvSpPr/>
          <p:nvPr/>
        </p:nvSpPr>
        <p:spPr>
          <a:xfrm>
            <a:off x="3291840" y="1554480"/>
            <a:ext cx="2560320" cy="1371600"/>
          </a:xfrm>
          <a:prstGeom prst="roundRect">
            <a:avLst>
              <a:gd name="adj" fmla="val 6667"/>
            </a:avLst>
          </a:prstGeom>
          <a:solidFill>
            <a:srgbClr val="F1F4F8"/>
          </a:solidFill>
          <a:ln/>
          <a:effectLst>
            <a:outerShdw sx="100000" sy="100000" kx="0" ky="0" algn="bl" rotWithShape="0" blurRad="101600" dist="25400" dir="5400000">
              <a:srgbClr val="000000">
                <a:alpha val="12000"/>
              </a:srgbClr>
            </a:outerShdw>
          </a:effectLst>
        </p:spPr>
      </p:sp>
      <p:sp>
        <p:nvSpPr>
          <p:cNvPr id="11" name="Shape 9"/>
          <p:cNvSpPr/>
          <p:nvPr/>
        </p:nvSpPr>
        <p:spPr>
          <a:xfrm>
            <a:off x="3474720" y="1737360"/>
            <a:ext cx="411480" cy="411480"/>
          </a:xfrm>
          <a:prstGeom prst="ellipse">
            <a:avLst/>
          </a:prstGeom>
          <a:solidFill>
            <a:srgbClr val="0E7C7B"/>
          </a:solidFill>
          <a:ln/>
        </p:spPr>
      </p:sp>
      <p:sp>
        <p:nvSpPr>
          <p:cNvPr id="12" name="Text 10"/>
          <p:cNvSpPr txBox="1"/>
          <p:nvPr/>
        </p:nvSpPr>
        <p:spPr>
          <a:xfrm>
            <a:off x="3474720" y="17373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3" name="Text 11"/>
          <p:cNvSpPr txBox="1"/>
          <p:nvPr/>
        </p:nvSpPr>
        <p:spPr>
          <a:xfrm>
            <a:off x="4023360" y="1737360"/>
            <a:ext cx="1645920" cy="411480"/>
          </a:xfrm>
          <a:prstGeom prst="rect">
            <a:avLst/>
          </a:prstGeom>
          <a:noFill/>
          <a:ln/>
        </p:spPr>
        <p:txBody>
          <a:bodyPr wrap="square" lIns="0" tIns="0" rIns="0" bIns="0" rtlCol="0" anchor="ctr"/>
          <a:lstStyle/>
          <a:p>
            <a:pPr indent="0" marL="0">
              <a:buNone/>
            </a:pPr>
            <a:r>
              <a:rPr lang="en-US" sz="1600" b="1" dirty="0">
                <a:solidFill>
                  <a:srgbClr val="1B2A3F"/>
                </a:solidFill>
                <a:latin typeface="Arial" pitchFamily="34" charset="0"/>
                <a:ea typeface="Arial" pitchFamily="34" charset="-122"/>
                <a:cs typeface="Arial" pitchFamily="34" charset="-120"/>
              </a:rPr>
              <a:t>Public subnet</a:t>
            </a:r>
            <a:endParaRPr lang="en-US" sz="1600" dirty="0"/>
          </a:p>
        </p:txBody>
      </p:sp>
      <p:sp>
        <p:nvSpPr>
          <p:cNvPr id="14" name="Text 12"/>
          <p:cNvSpPr txBox="1"/>
          <p:nvPr/>
        </p:nvSpPr>
        <p:spPr>
          <a:xfrm>
            <a:off x="3520440" y="2286000"/>
            <a:ext cx="2103120" cy="502920"/>
          </a:xfrm>
          <a:prstGeom prst="rect">
            <a:avLst/>
          </a:prstGeom>
          <a:noFill/>
          <a:ln/>
        </p:spPr>
        <p:txBody>
          <a:bodyPr wrap="square" lIns="0" tIns="0" rIns="0" bIns="0" rtlCol="0" anchor="t"/>
          <a:lstStyle/>
          <a:p>
            <a:pPr indent="0" marL="0">
              <a:buNone/>
            </a:pPr>
            <a:r>
              <a:rPr lang="en-US" sz="1400" dirty="0">
                <a:solidFill>
                  <a:srgbClr val="33445A"/>
                </a:solidFill>
                <a:latin typeface="Arial" pitchFamily="34" charset="0"/>
                <a:ea typeface="Arial" pitchFamily="34" charset="-122"/>
                <a:cs typeface="Arial" pitchFamily="34" charset="-120"/>
              </a:rPr>
              <a:t>Public-Subnet 10.0.1.0/24, auto-assign public IPv4 on.</a:t>
            </a:r>
            <a:endParaRPr lang="en-US" sz="1400" dirty="0"/>
          </a:p>
        </p:txBody>
      </p:sp>
      <p:sp>
        <p:nvSpPr>
          <p:cNvPr id="15" name="Card3"/>
          <p:cNvSpPr/>
          <p:nvPr/>
        </p:nvSpPr>
        <p:spPr>
          <a:xfrm>
            <a:off x="6126480" y="1554480"/>
            <a:ext cx="2560320" cy="1371600"/>
          </a:xfrm>
          <a:prstGeom prst="roundRect">
            <a:avLst>
              <a:gd name="adj" fmla="val 6667"/>
            </a:avLst>
          </a:prstGeom>
          <a:solidFill>
            <a:srgbClr val="F1F4F8"/>
          </a:solidFill>
          <a:ln/>
          <a:effectLst>
            <a:outerShdw sx="100000" sy="100000" kx="0" ky="0" algn="bl" rotWithShape="0" blurRad="101600" dist="25400" dir="5400000">
              <a:srgbClr val="000000">
                <a:alpha val="12000"/>
              </a:srgbClr>
            </a:outerShdw>
          </a:effectLst>
        </p:spPr>
      </p:sp>
      <p:sp>
        <p:nvSpPr>
          <p:cNvPr id="16" name="Shape 14"/>
          <p:cNvSpPr/>
          <p:nvPr/>
        </p:nvSpPr>
        <p:spPr>
          <a:xfrm>
            <a:off x="6309360" y="1737360"/>
            <a:ext cx="411480" cy="411480"/>
          </a:xfrm>
          <a:prstGeom prst="ellipse">
            <a:avLst/>
          </a:prstGeom>
          <a:solidFill>
            <a:srgbClr val="0E7C7B"/>
          </a:solidFill>
          <a:ln/>
        </p:spPr>
      </p:sp>
      <p:sp>
        <p:nvSpPr>
          <p:cNvPr id="17" name="Text 15"/>
          <p:cNvSpPr txBox="1"/>
          <p:nvPr/>
        </p:nvSpPr>
        <p:spPr>
          <a:xfrm>
            <a:off x="6309360" y="17373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6858000" y="1737360"/>
            <a:ext cx="1645920" cy="411480"/>
          </a:xfrm>
          <a:prstGeom prst="rect">
            <a:avLst/>
          </a:prstGeom>
          <a:noFill/>
          <a:ln/>
        </p:spPr>
        <p:txBody>
          <a:bodyPr wrap="square" lIns="0" tIns="0" rIns="0" bIns="0" rtlCol="0" anchor="ctr"/>
          <a:lstStyle/>
          <a:p>
            <a:pPr indent="0" marL="0">
              <a:buNone/>
            </a:pPr>
            <a:r>
              <a:rPr lang="en-US" sz="1600" b="1" dirty="0">
                <a:solidFill>
                  <a:srgbClr val="1B2A3F"/>
                </a:solidFill>
                <a:latin typeface="Arial" pitchFamily="34" charset="0"/>
                <a:ea typeface="Arial" pitchFamily="34" charset="-122"/>
                <a:cs typeface="Arial" pitchFamily="34" charset="-120"/>
              </a:rPr>
              <a:t>Internet Gateway</a:t>
            </a:r>
            <a:endParaRPr lang="en-US" sz="1600" dirty="0"/>
          </a:p>
        </p:txBody>
      </p:sp>
      <p:sp>
        <p:nvSpPr>
          <p:cNvPr id="19" name="Text 17"/>
          <p:cNvSpPr txBox="1"/>
          <p:nvPr/>
        </p:nvSpPr>
        <p:spPr>
          <a:xfrm>
            <a:off x="6355080" y="2286000"/>
            <a:ext cx="2103120" cy="502920"/>
          </a:xfrm>
          <a:prstGeom prst="rect">
            <a:avLst/>
          </a:prstGeom>
          <a:noFill/>
          <a:ln/>
        </p:spPr>
        <p:txBody>
          <a:bodyPr wrap="square" lIns="0" tIns="0" rIns="0" bIns="0" rtlCol="0" anchor="t"/>
          <a:lstStyle/>
          <a:p>
            <a:pPr indent="0" marL="0">
              <a:buNone/>
            </a:pPr>
            <a:r>
              <a:rPr lang="en-US" sz="1400" dirty="0">
                <a:solidFill>
                  <a:srgbClr val="33445A"/>
                </a:solidFill>
                <a:latin typeface="Arial" pitchFamily="34" charset="0"/>
                <a:ea typeface="Arial" pitchFamily="34" charset="-122"/>
                <a:cs typeface="Arial" pitchFamily="34" charset="-120"/>
              </a:rPr>
              <a:t>my-web-IGW created and attached to my-web-vpc.</a:t>
            </a:r>
            <a:endParaRPr lang="en-US" sz="1400" dirty="0"/>
          </a:p>
        </p:txBody>
      </p:sp>
      <p:sp>
        <p:nvSpPr>
          <p:cNvPr id="20" name="Card4"/>
          <p:cNvSpPr/>
          <p:nvPr/>
        </p:nvSpPr>
        <p:spPr>
          <a:xfrm>
            <a:off x="457200" y="3200400"/>
            <a:ext cx="2560320" cy="1371600"/>
          </a:xfrm>
          <a:prstGeom prst="roundRect">
            <a:avLst>
              <a:gd name="adj" fmla="val 6667"/>
            </a:avLst>
          </a:prstGeom>
          <a:solidFill>
            <a:srgbClr val="F1F4F8"/>
          </a:solidFill>
          <a:ln/>
          <a:effectLst>
            <a:outerShdw sx="100000" sy="100000" kx="0" ky="0" algn="bl" rotWithShape="0" blurRad="101600" dist="25400" dir="5400000">
              <a:srgbClr val="000000">
                <a:alpha val="12000"/>
              </a:srgbClr>
            </a:outerShdw>
          </a:effectLst>
        </p:spPr>
      </p:sp>
      <p:sp>
        <p:nvSpPr>
          <p:cNvPr id="21" name="Shape 19"/>
          <p:cNvSpPr/>
          <p:nvPr/>
        </p:nvSpPr>
        <p:spPr>
          <a:xfrm>
            <a:off x="640080" y="3383280"/>
            <a:ext cx="411480" cy="411480"/>
          </a:xfrm>
          <a:prstGeom prst="ellipse">
            <a:avLst/>
          </a:prstGeom>
          <a:solidFill>
            <a:srgbClr val="0E7C7B"/>
          </a:solidFill>
          <a:ln/>
        </p:spPr>
      </p:sp>
      <p:sp>
        <p:nvSpPr>
          <p:cNvPr id="22" name="Text 20"/>
          <p:cNvSpPr txBox="1"/>
          <p:nvPr/>
        </p:nvSpPr>
        <p:spPr>
          <a:xfrm>
            <a:off x="640080" y="33832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3" name="Text 21"/>
          <p:cNvSpPr txBox="1"/>
          <p:nvPr/>
        </p:nvSpPr>
        <p:spPr>
          <a:xfrm>
            <a:off x="1188720" y="3383280"/>
            <a:ext cx="1645920" cy="411480"/>
          </a:xfrm>
          <a:prstGeom prst="rect">
            <a:avLst/>
          </a:prstGeom>
          <a:noFill/>
          <a:ln/>
        </p:spPr>
        <p:txBody>
          <a:bodyPr wrap="square" lIns="0" tIns="0" rIns="0" bIns="0" rtlCol="0" anchor="ctr"/>
          <a:lstStyle/>
          <a:p>
            <a:pPr indent="0" marL="0">
              <a:buNone/>
            </a:pPr>
            <a:r>
              <a:rPr lang="en-US" sz="1600" b="1" dirty="0">
                <a:solidFill>
                  <a:srgbClr val="1B2A3F"/>
                </a:solidFill>
                <a:latin typeface="Arial" pitchFamily="34" charset="0"/>
                <a:ea typeface="Arial" pitchFamily="34" charset="-122"/>
                <a:cs typeface="Arial" pitchFamily="34" charset="-120"/>
              </a:rPr>
              <a:t>Route table</a:t>
            </a:r>
            <a:endParaRPr lang="en-US" sz="1600" dirty="0"/>
          </a:p>
        </p:txBody>
      </p:sp>
      <p:sp>
        <p:nvSpPr>
          <p:cNvPr id="24" name="Text 22"/>
          <p:cNvSpPr txBox="1"/>
          <p:nvPr/>
        </p:nvSpPr>
        <p:spPr>
          <a:xfrm>
            <a:off x="685800" y="3931920"/>
            <a:ext cx="2103120" cy="502920"/>
          </a:xfrm>
          <a:prstGeom prst="rect">
            <a:avLst/>
          </a:prstGeom>
          <a:noFill/>
          <a:ln/>
        </p:spPr>
        <p:txBody>
          <a:bodyPr wrap="square" lIns="0" tIns="0" rIns="0" bIns="0" rtlCol="0" anchor="t"/>
          <a:lstStyle/>
          <a:p>
            <a:pPr indent="0" marL="0">
              <a:buNone/>
            </a:pPr>
            <a:r>
              <a:rPr lang="en-US" sz="1400" dirty="0">
                <a:solidFill>
                  <a:srgbClr val="33445A"/>
                </a:solidFill>
                <a:latin typeface="Arial" pitchFamily="34" charset="0"/>
                <a:ea typeface="Arial" pitchFamily="34" charset="-122"/>
                <a:cs typeface="Arial" pitchFamily="34" charset="-120"/>
              </a:rPr>
              <a:t>Public-Route-Table: 0.0.0.0/0 to the gateway, linked to the subnet.</a:t>
            </a:r>
            <a:endParaRPr lang="en-US" sz="1400" dirty="0"/>
          </a:p>
        </p:txBody>
      </p:sp>
      <p:sp>
        <p:nvSpPr>
          <p:cNvPr id="25" name="Card5"/>
          <p:cNvSpPr/>
          <p:nvPr/>
        </p:nvSpPr>
        <p:spPr>
          <a:xfrm>
            <a:off x="3291840" y="3200400"/>
            <a:ext cx="2560320" cy="1371600"/>
          </a:xfrm>
          <a:prstGeom prst="roundRect">
            <a:avLst>
              <a:gd name="adj" fmla="val 6667"/>
            </a:avLst>
          </a:prstGeom>
          <a:solidFill>
            <a:srgbClr val="F1F4F8"/>
          </a:solidFill>
          <a:ln/>
          <a:effectLst>
            <a:outerShdw sx="100000" sy="100000" kx="0" ky="0" algn="bl" rotWithShape="0" blurRad="101600" dist="25400" dir="5400000">
              <a:srgbClr val="000000">
                <a:alpha val="12000"/>
              </a:srgbClr>
            </a:outerShdw>
          </a:effectLst>
        </p:spPr>
      </p:sp>
      <p:sp>
        <p:nvSpPr>
          <p:cNvPr id="26" name="Shape 24"/>
          <p:cNvSpPr/>
          <p:nvPr/>
        </p:nvSpPr>
        <p:spPr>
          <a:xfrm>
            <a:off x="3474720" y="3383280"/>
            <a:ext cx="411480" cy="411480"/>
          </a:xfrm>
          <a:prstGeom prst="ellipse">
            <a:avLst/>
          </a:prstGeom>
          <a:solidFill>
            <a:srgbClr val="0E7C7B"/>
          </a:solidFill>
          <a:ln/>
        </p:spPr>
      </p:sp>
      <p:sp>
        <p:nvSpPr>
          <p:cNvPr id="27" name="Text 25"/>
          <p:cNvSpPr txBox="1"/>
          <p:nvPr/>
        </p:nvSpPr>
        <p:spPr>
          <a:xfrm>
            <a:off x="3474720" y="33832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8" name="Text 26"/>
          <p:cNvSpPr txBox="1"/>
          <p:nvPr/>
        </p:nvSpPr>
        <p:spPr>
          <a:xfrm>
            <a:off x="4023360" y="3383280"/>
            <a:ext cx="1645920" cy="411480"/>
          </a:xfrm>
          <a:prstGeom prst="rect">
            <a:avLst/>
          </a:prstGeom>
          <a:noFill/>
          <a:ln/>
        </p:spPr>
        <p:txBody>
          <a:bodyPr wrap="square" lIns="0" tIns="0" rIns="0" bIns="0" rtlCol="0" anchor="ctr"/>
          <a:lstStyle/>
          <a:p>
            <a:pPr indent="0" marL="0">
              <a:buNone/>
            </a:pPr>
            <a:r>
              <a:rPr lang="en-US" sz="1600" b="1" dirty="0">
                <a:solidFill>
                  <a:srgbClr val="1B2A3F"/>
                </a:solidFill>
                <a:latin typeface="Arial" pitchFamily="34" charset="0"/>
                <a:ea typeface="Arial" pitchFamily="34" charset="-122"/>
                <a:cs typeface="Arial" pitchFamily="34" charset="-120"/>
              </a:rPr>
              <a:t>Security group</a:t>
            </a:r>
            <a:endParaRPr lang="en-US" sz="1600" dirty="0"/>
          </a:p>
        </p:txBody>
      </p:sp>
      <p:sp>
        <p:nvSpPr>
          <p:cNvPr id="29" name="Text 27"/>
          <p:cNvSpPr txBox="1"/>
          <p:nvPr/>
        </p:nvSpPr>
        <p:spPr>
          <a:xfrm>
            <a:off x="3520440" y="3931920"/>
            <a:ext cx="2103120" cy="502920"/>
          </a:xfrm>
          <a:prstGeom prst="rect">
            <a:avLst/>
          </a:prstGeom>
          <a:noFill/>
          <a:ln/>
        </p:spPr>
        <p:txBody>
          <a:bodyPr wrap="square" lIns="0" tIns="0" rIns="0" bIns="0" rtlCol="0" anchor="t"/>
          <a:lstStyle/>
          <a:p>
            <a:pPr indent="0" marL="0">
              <a:buNone/>
            </a:pPr>
            <a:r>
              <a:rPr lang="en-US" sz="1400" dirty="0">
                <a:solidFill>
                  <a:srgbClr val="33445A"/>
                </a:solidFill>
                <a:latin typeface="Arial" pitchFamily="34" charset="0"/>
                <a:ea typeface="Arial" pitchFamily="34" charset="-122"/>
                <a:cs typeface="Arial" pitchFamily="34" charset="-120"/>
              </a:rPr>
              <a:t>web-sg: SSH 22 from My IP, HTTP 80 from 0.0.0.0/0.</a:t>
            </a:r>
            <a:endParaRPr lang="en-US" sz="1400" dirty="0"/>
          </a:p>
        </p:txBody>
      </p:sp>
      <p:sp>
        <p:nvSpPr>
          <p:cNvPr id="30" name="Card6"/>
          <p:cNvSpPr/>
          <p:nvPr/>
        </p:nvSpPr>
        <p:spPr>
          <a:xfrm>
            <a:off x="6126480" y="3200400"/>
            <a:ext cx="2560320" cy="1371600"/>
          </a:xfrm>
          <a:prstGeom prst="roundRect">
            <a:avLst>
              <a:gd name="adj" fmla="val 6667"/>
            </a:avLst>
          </a:prstGeom>
          <a:solidFill>
            <a:srgbClr val="F1F4F8"/>
          </a:solidFill>
          <a:ln/>
          <a:effectLst>
            <a:outerShdw sx="100000" sy="100000" kx="0" ky="0" algn="bl" rotWithShape="0" blurRad="101600" dist="25400" dir="5400000">
              <a:srgbClr val="000000">
                <a:alpha val="12000"/>
              </a:srgbClr>
            </a:outerShdw>
          </a:effectLst>
        </p:spPr>
      </p:sp>
      <p:sp>
        <p:nvSpPr>
          <p:cNvPr id="31" name="Shape 29"/>
          <p:cNvSpPr/>
          <p:nvPr/>
        </p:nvSpPr>
        <p:spPr>
          <a:xfrm>
            <a:off x="6309360" y="3383280"/>
            <a:ext cx="411480" cy="411480"/>
          </a:xfrm>
          <a:prstGeom prst="ellipse">
            <a:avLst/>
          </a:prstGeom>
          <a:solidFill>
            <a:srgbClr val="0E7C7B"/>
          </a:solidFill>
          <a:ln/>
        </p:spPr>
      </p:sp>
      <p:sp>
        <p:nvSpPr>
          <p:cNvPr id="32" name="Text 30"/>
          <p:cNvSpPr txBox="1"/>
          <p:nvPr/>
        </p:nvSpPr>
        <p:spPr>
          <a:xfrm>
            <a:off x="6309360" y="33832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3" name="Text 31"/>
          <p:cNvSpPr txBox="1"/>
          <p:nvPr/>
        </p:nvSpPr>
        <p:spPr>
          <a:xfrm>
            <a:off x="6858000" y="3383280"/>
            <a:ext cx="1645920" cy="411480"/>
          </a:xfrm>
          <a:prstGeom prst="rect">
            <a:avLst/>
          </a:prstGeom>
          <a:noFill/>
          <a:ln/>
        </p:spPr>
        <p:txBody>
          <a:bodyPr wrap="square" lIns="0" tIns="0" rIns="0" bIns="0" rtlCol="0" anchor="ctr"/>
          <a:lstStyle/>
          <a:p>
            <a:pPr indent="0" marL="0">
              <a:buNone/>
            </a:pPr>
            <a:r>
              <a:rPr lang="en-US" sz="1600" b="1" dirty="0">
                <a:solidFill>
                  <a:srgbClr val="1B2A3F"/>
                </a:solidFill>
                <a:latin typeface="Arial" pitchFamily="34" charset="0"/>
                <a:ea typeface="Arial" pitchFamily="34" charset="-122"/>
                <a:cs typeface="Arial" pitchFamily="34" charset="-120"/>
              </a:rPr>
              <a:t>EC2 instance</a:t>
            </a:r>
            <a:endParaRPr lang="en-US" sz="1600" dirty="0"/>
          </a:p>
        </p:txBody>
      </p:sp>
      <p:sp>
        <p:nvSpPr>
          <p:cNvPr id="34" name="Text 32"/>
          <p:cNvSpPr txBox="1"/>
          <p:nvPr/>
        </p:nvSpPr>
        <p:spPr>
          <a:xfrm>
            <a:off x="6355080" y="3931920"/>
            <a:ext cx="2103120" cy="502920"/>
          </a:xfrm>
          <a:prstGeom prst="rect">
            <a:avLst/>
          </a:prstGeom>
          <a:noFill/>
          <a:ln/>
        </p:spPr>
        <p:txBody>
          <a:bodyPr wrap="square" lIns="0" tIns="0" rIns="0" bIns="0" rtlCol="0" anchor="t"/>
          <a:lstStyle/>
          <a:p>
            <a:pPr indent="0" marL="0">
              <a:buNone/>
            </a:pPr>
            <a:r>
              <a:rPr lang="en-US" sz="1400" dirty="0">
                <a:solidFill>
                  <a:srgbClr val="33445A"/>
                </a:solidFill>
                <a:latin typeface="Arial" pitchFamily="34" charset="0"/>
                <a:ea typeface="Arial" pitchFamily="34" charset="-122"/>
                <a:cs typeface="Arial" pitchFamily="34" charset="-120"/>
              </a:rPr>
              <a:t>Ubuntu 24.04 LTS, t3.micro, public IP, web-sg, .pem key pair.</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latin typeface="Arial"/>
                <a:ea typeface="Arial"/>
                <a:cs typeface="Aria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320040"/>
            <a:ext cx="6400800" cy="54864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Install Nginx</a:t>
            </a:r>
            <a:endParaRPr lang="en-US" sz="3000" dirty="0"/>
          </a:p>
        </p:txBody>
      </p:sp>
      <p:sp>
        <p:nvSpPr>
          <p:cNvPr id="3" name="Shape 1"/>
          <p:cNvSpPr/>
          <p:nvPr/>
        </p:nvSpPr>
        <p:spPr>
          <a:xfrm>
            <a:off x="457200" y="1097280"/>
            <a:ext cx="8229600" cy="2377440"/>
          </a:xfrm>
          <a:prstGeom prst="roundRect">
            <a:avLst>
              <a:gd name="adj" fmla="val 3846"/>
            </a:avLst>
          </a:prstGeom>
          <a:solidFill>
            <a:srgbClr val="1B2D45"/>
          </a:solidFill>
          <a:ln/>
        </p:spPr>
      </p:sp>
      <p:sp>
        <p:nvSpPr>
          <p:cNvPr id="4" name="Text 2"/>
          <p:cNvSpPr txBox="1"/>
          <p:nvPr/>
        </p:nvSpPr>
        <p:spPr>
          <a:xfrm>
            <a:off x="822960" y="1280160"/>
            <a:ext cx="7498080" cy="2011680"/>
          </a:xfrm>
          <a:prstGeom prst="rect">
            <a:avLst/>
          </a:prstGeom>
          <a:noFill/>
          <a:ln/>
        </p:spPr>
        <p:txBody>
          <a:bodyPr wrap="square" lIns="0" tIns="0" rIns="0" bIns="0" rtlCol="0" anchor="t"/>
          <a:lstStyle/>
          <a:p>
            <a:pPr indent="0" marL="0">
              <a:spcAft>
                <a:spcPts val="800"/>
              </a:spcAft>
              <a:buNone/>
            </a:pPr>
            <a:r>
              <a:rPr lang="en-US" sz="1600" dirty="0">
                <a:solidFill>
                  <a:srgbClr val="FFB84D"/>
                </a:solidFill>
                <a:latin typeface="Courier New" pitchFamily="34" charset="0"/>
                <a:ea typeface="Courier New" pitchFamily="34" charset="-122"/>
                <a:cs typeface="Courier New" pitchFamily="34" charset="-120"/>
              </a:rPr>
              <a:t>ssh -i "web-key.pem" ubuntu@13.206.86.123</a:t>
            </a:r>
            <a:endParaRPr lang="en-US" sz="1600" dirty="0"/>
          </a:p>
          <a:p>
            <a:pPr indent="0" marL="0">
              <a:spcAft>
                <a:spcPts val="800"/>
              </a:spcAft>
              <a:buNone/>
            </a:pPr>
            <a:r>
              <a:rPr lang="en-US" sz="1600" dirty="0">
                <a:solidFill>
                  <a:srgbClr val="FFFFFF"/>
                </a:solidFill>
                <a:latin typeface="Courier New" pitchFamily="34" charset="0"/>
                <a:ea typeface="Courier New" pitchFamily="34" charset="-122"/>
                <a:cs typeface="Courier New" pitchFamily="34" charset="-120"/>
              </a:rPr>
              <a:t>sudo apt update</a:t>
            </a:r>
            <a:endParaRPr lang="en-US" sz="1600" dirty="0"/>
          </a:p>
          <a:p>
            <a:pPr indent="0" marL="0">
              <a:spcAft>
                <a:spcPts val="800"/>
              </a:spcAft>
              <a:buNone/>
            </a:pPr>
            <a:r>
              <a:rPr lang="en-US" sz="1600" dirty="0">
                <a:solidFill>
                  <a:srgbClr val="FFFFFF"/>
                </a:solidFill>
                <a:latin typeface="Courier New" pitchFamily="34" charset="0"/>
                <a:ea typeface="Courier New" pitchFamily="34" charset="-122"/>
                <a:cs typeface="Courier New" pitchFamily="34" charset="-120"/>
              </a:rPr>
              <a:t>sudo apt install -y nginx</a:t>
            </a:r>
            <a:endParaRPr lang="en-US" sz="1600" dirty="0"/>
          </a:p>
          <a:p>
            <a:pPr indent="0" marL="0">
              <a:spcAft>
                <a:spcPts val="800"/>
              </a:spcAft>
              <a:buNone/>
            </a:pPr>
            <a:r>
              <a:rPr lang="en-US" sz="1600" dirty="0">
                <a:solidFill>
                  <a:srgbClr val="FFFFFF"/>
                </a:solidFill>
                <a:latin typeface="Courier New" pitchFamily="34" charset="0"/>
                <a:ea typeface="Courier New" pitchFamily="34" charset="-122"/>
                <a:cs typeface="Courier New" pitchFamily="34" charset="-120"/>
              </a:rPr>
              <a:t>sudo systemctl enable --now nginx</a:t>
            </a:r>
            <a:endParaRPr lang="en-US" sz="1600" dirty="0"/>
          </a:p>
          <a:p>
            <a:pPr indent="0" marL="0">
              <a:spcAft>
                <a:spcPts val="800"/>
              </a:spcAft>
              <a:buNone/>
            </a:pPr>
            <a:r>
              <a:rPr lang="en-US" sz="1600" dirty="0">
                <a:solidFill>
                  <a:srgbClr val="FFFFFF"/>
                </a:solidFill>
                <a:latin typeface="Courier New" pitchFamily="34" charset="0"/>
                <a:ea typeface="Courier New" pitchFamily="34" charset="-122"/>
                <a:cs typeface="Courier New" pitchFamily="34" charset="-120"/>
              </a:rPr>
              <a:t>systemctl status nginx</a:t>
            </a:r>
            <a:endParaRPr lang="en-US" sz="1600" dirty="0"/>
          </a:p>
        </p:txBody>
      </p:sp>
      <p:sp>
        <p:nvSpPr>
          <p:cNvPr id="5" name="Text 3"/>
          <p:cNvSpPr txBox="1"/>
          <p:nvPr/>
        </p:nvSpPr>
        <p:spPr>
          <a:xfrm>
            <a:off x="457200" y="3749040"/>
            <a:ext cx="8229600" cy="640080"/>
          </a:xfrm>
          <a:prstGeom prst="rect">
            <a:avLst/>
          </a:prstGeom>
          <a:noFill/>
          <a:ln/>
        </p:spPr>
        <p:txBody>
          <a:bodyPr wrap="square" lIns="0" tIns="0" rIns="0" bIns="0" rtlCol="0" anchor="t"/>
          <a:lstStyle/>
          <a:p>
            <a:pPr indent="0" marL="0">
              <a:buNone/>
            </a:pPr>
            <a:r>
              <a:rPr lang="en-US" sz="1600" dirty="0">
                <a:solidFill>
                  <a:srgbClr val="D5DFEC"/>
                </a:solidFill>
                <a:latin typeface="Arial" pitchFamily="34" charset="0"/>
                <a:ea typeface="Arial" pitchFamily="34" charset="-122"/>
                <a:cs typeface="Arial" pitchFamily="34" charset="-120"/>
              </a:rPr>
              <a:t>Status shows </a:t>
            </a:r>
            <a:pPr indent="0" marL="0">
              <a:buNone/>
            </a:pPr>
            <a:r>
              <a:rPr lang="en-US" sz="1600" b="1" dirty="0">
                <a:solidFill>
                  <a:srgbClr val="FFB84D"/>
                </a:solidFill>
                <a:latin typeface="Arial" pitchFamily="34" charset="0"/>
                <a:ea typeface="Arial" pitchFamily="34" charset="-122"/>
                <a:cs typeface="Arial" pitchFamily="34" charset="-120"/>
              </a:rPr>
              <a:t>active (running)</a:t>
            </a:r>
            <a:pPr indent="0" marL="0">
              <a:buNone/>
            </a:pPr>
            <a:r>
              <a:rPr lang="en-US" sz="1600" dirty="0">
                <a:solidFill>
                  <a:srgbClr val="D5DFEC"/>
                </a:solidFill>
                <a:latin typeface="Arial" pitchFamily="34" charset="0"/>
                <a:ea typeface="Arial" pitchFamily="34" charset="-122"/>
                <a:cs typeface="Arial" pitchFamily="34" charset="-120"/>
              </a:rPr>
              <a:t>, then the HTML page is written to /var/www/html/index.html.</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457200" y="320040"/>
            <a:ext cx="6766560" cy="548640"/>
          </a:xfrm>
          <a:prstGeom prst="rect">
            <a:avLst/>
          </a:prstGeom>
          <a:noFill/>
          <a:ln/>
        </p:spPr>
        <p:txBody>
          <a:bodyPr wrap="square" lIns="0" tIns="0" rIns="0" bIns="0" rtlCol="0" anchor="ctr"/>
          <a:lstStyle/>
          <a:p>
            <a:pPr indent="0" marL="0">
              <a:buNone/>
            </a:pPr>
            <a:r>
              <a:rPr lang="en-US" sz="3000" b="1" dirty="0">
                <a:solidFill>
                  <a:srgbClr val="1B2A3F"/>
                </a:solidFill>
                <a:latin typeface="Arial" pitchFamily="34" charset="0"/>
                <a:ea typeface="Arial" pitchFamily="34" charset="-122"/>
                <a:cs typeface="Arial" pitchFamily="34" charset="-120"/>
              </a:rPr>
              <a:t>Result: page live on the public IP</a:t>
            </a:r>
            <a:endParaRPr lang="en-US" sz="3000" dirty="0"/>
          </a:p>
        </p:txBody>
      </p:sp>
      <p:sp>
        <p:nvSpPr>
          <p:cNvPr id="3" name="Tag"/>
          <p:cNvSpPr/>
          <p:nvPr/>
        </p:nvSpPr>
        <p:spPr>
          <a:xfrm>
            <a:off x="7406640" y="411480"/>
            <a:ext cx="1280160" cy="365760"/>
          </a:xfrm>
          <a:prstGeom prst="roundRect">
            <a:avLst>
              <a:gd name="adj" fmla="val 50000"/>
            </a:avLst>
          </a:prstGeom>
          <a:solidFill>
            <a:srgbClr val="0E7C7B"/>
          </a:solidFill>
          <a:ln/>
        </p:spPr>
      </p:sp>
      <p:sp>
        <p:nvSpPr>
          <p:cNvPr id="4" name="TagText"/>
          <p:cNvSpPr txBox="1"/>
          <p:nvPr/>
        </p:nvSpPr>
        <p:spPr>
          <a:xfrm>
            <a:off x="7406640" y="411480"/>
            <a:ext cx="12801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Q2 · VPC + EC2</a:t>
            </a:r>
            <a:endParaRPr lang="en-US" sz="1100" dirty="0"/>
          </a:p>
        </p:txBody>
      </p:sp>
      <p:sp>
        <p:nvSpPr>
          <p:cNvPr id="5" name="Shape 3"/>
          <p:cNvSpPr/>
          <p:nvPr/>
        </p:nvSpPr>
        <p:spPr>
          <a:xfrm>
            <a:off x="457200" y="1097280"/>
            <a:ext cx="8229600" cy="1005840"/>
          </a:xfrm>
          <a:prstGeom prst="roundRect">
            <a:avLst>
              <a:gd name="adj" fmla="val 9091"/>
            </a:avLst>
          </a:prstGeom>
          <a:solidFill>
            <a:srgbClr val="0E7C7B"/>
          </a:solidFill>
          <a:ln/>
        </p:spPr>
      </p:sp>
      <p:sp>
        <p:nvSpPr>
          <p:cNvPr id="6" name="Text 4"/>
          <p:cNvSpPr txBox="1"/>
          <p:nvPr/>
        </p:nvSpPr>
        <p:spPr>
          <a:xfrm>
            <a:off x="457200" y="1097280"/>
            <a:ext cx="8229600" cy="10058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http://13.206.86.123</a:t>
            </a:r>
            <a:endParaRPr lang="en-US" sz="2000" dirty="0"/>
          </a:p>
          <a:p>
            <a:pPr algn="ctr" indent="0" marL="0">
              <a:buNone/>
            </a:pPr>
            <a:r>
              <a:rPr lang="en-US" sz="2000" dirty="0">
                <a:solidFill>
                  <a:srgbClr val="FFFFFF"/>
                </a:solidFill>
                <a:latin typeface="Arial" pitchFamily="34" charset="0"/>
                <a:ea typeface="Arial" pitchFamily="34" charset="-122"/>
                <a:cs typeface="Arial" pitchFamily="34" charset="-120"/>
              </a:rPr>
              <a:t>shows "Hello from my custom AWS VPC!"</a:t>
            </a:r>
            <a:endParaRPr lang="en-US" sz="2000" dirty="0"/>
          </a:p>
        </p:txBody>
      </p:sp>
      <p:sp>
        <p:nvSpPr>
          <p:cNvPr id="7" name="Text 5"/>
          <p:cNvSpPr txBox="1"/>
          <p:nvPr/>
        </p:nvSpPr>
        <p:spPr>
          <a:xfrm>
            <a:off x="457200" y="2423160"/>
            <a:ext cx="8229600" cy="320040"/>
          </a:xfrm>
          <a:prstGeom prst="rect">
            <a:avLst/>
          </a:prstGeom>
          <a:noFill/>
          <a:ln/>
        </p:spPr>
        <p:txBody>
          <a:bodyPr wrap="square" lIns="0" tIns="0" rIns="0" bIns="0" rtlCol="0" anchor="ctr"/>
          <a:lstStyle/>
          <a:p>
            <a:pPr indent="0" marL="0">
              <a:buNone/>
            </a:pPr>
            <a:r>
              <a:rPr lang="en-US" sz="1600" b="1" dirty="0">
                <a:solidFill>
                  <a:srgbClr val="0E7C7B"/>
                </a:solidFill>
                <a:latin typeface="Arial" pitchFamily="34" charset="0"/>
                <a:ea typeface="Arial" pitchFamily="34" charset="-122"/>
                <a:cs typeface="Arial" pitchFamily="34" charset="-120"/>
              </a:rPr>
              <a:t>Request path</a:t>
            </a:r>
            <a:endParaRPr lang="en-US" sz="1600" dirty="0"/>
          </a:p>
        </p:txBody>
      </p:sp>
      <p:sp>
        <p:nvSpPr>
          <p:cNvPr id="8" name="Shape 6"/>
          <p:cNvSpPr/>
          <p:nvPr/>
        </p:nvSpPr>
        <p:spPr>
          <a:xfrm>
            <a:off x="457200" y="2880360"/>
            <a:ext cx="1051560" cy="868680"/>
          </a:xfrm>
          <a:prstGeom prst="roundRect">
            <a:avLst>
              <a:gd name="adj" fmla="val 8421"/>
            </a:avLst>
          </a:prstGeom>
          <a:solidFill>
            <a:srgbClr val="0F1B2D"/>
          </a:solidFill>
          <a:ln/>
          <a:effectLst>
            <a:outerShdw sx="100000" sy="100000" kx="0" ky="0" algn="bl" rotWithShape="0" blurRad="101600" dist="25400" dir="5400000">
              <a:srgbClr val="000000">
                <a:alpha val="12000"/>
              </a:srgbClr>
            </a:outerShdw>
          </a:effectLst>
        </p:spPr>
      </p:sp>
      <p:sp>
        <p:nvSpPr>
          <p:cNvPr id="9" name="Text 7"/>
          <p:cNvSpPr txBox="1"/>
          <p:nvPr/>
        </p:nvSpPr>
        <p:spPr>
          <a:xfrm>
            <a:off x="502920" y="2880360"/>
            <a:ext cx="960120" cy="86868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Browser</a:t>
            </a:r>
            <a:endParaRPr lang="en-US" sz="1100" dirty="0"/>
          </a:p>
        </p:txBody>
      </p:sp>
      <p:sp>
        <p:nvSpPr>
          <p:cNvPr id="10" name="Text 8"/>
          <p:cNvSpPr txBox="1"/>
          <p:nvPr/>
        </p:nvSpPr>
        <p:spPr>
          <a:xfrm>
            <a:off x="1508760" y="2880360"/>
            <a:ext cx="146304" cy="868680"/>
          </a:xfrm>
          <a:prstGeom prst="rect">
            <a:avLst/>
          </a:prstGeom>
          <a:noFill/>
          <a:ln/>
        </p:spPr>
        <p:txBody>
          <a:bodyPr wrap="square" lIns="0" tIns="0" rIns="0" bIns="0" rtlCol="0" anchor="ctr"/>
          <a:lstStyle/>
          <a:p>
            <a:pPr algn="ctr" indent="0" marL="0">
              <a:buNone/>
            </a:pPr>
            <a:r>
              <a:rPr lang="en-US" sz="2000" b="1" dirty="0">
                <a:solidFill>
                  <a:srgbClr val="FF9900"/>
                </a:solidFill>
                <a:latin typeface="Arial" pitchFamily="34" charset="0"/>
                <a:ea typeface="Arial" pitchFamily="34" charset="-122"/>
                <a:cs typeface="Arial" pitchFamily="34" charset="-120"/>
              </a:rPr>
              <a:t>›</a:t>
            </a:r>
            <a:endParaRPr lang="en-US" sz="2000" dirty="0"/>
          </a:p>
        </p:txBody>
      </p:sp>
      <p:sp>
        <p:nvSpPr>
          <p:cNvPr id="11" name="Shape 9"/>
          <p:cNvSpPr/>
          <p:nvPr/>
        </p:nvSpPr>
        <p:spPr>
          <a:xfrm>
            <a:off x="1655064" y="2880360"/>
            <a:ext cx="1051560" cy="868680"/>
          </a:xfrm>
          <a:prstGeom prst="roundRect">
            <a:avLst>
              <a:gd name="adj" fmla="val 8421"/>
            </a:avLst>
          </a:prstGeom>
          <a:solidFill>
            <a:srgbClr val="F1F4F8"/>
          </a:solidFill>
          <a:ln/>
          <a:effectLst>
            <a:outerShdw sx="100000" sy="100000" kx="0" ky="0" algn="bl" rotWithShape="0" blurRad="101600" dist="25400" dir="5400000">
              <a:srgbClr val="000000">
                <a:alpha val="12000"/>
              </a:srgbClr>
            </a:outerShdw>
          </a:effectLst>
        </p:spPr>
      </p:sp>
      <p:sp>
        <p:nvSpPr>
          <p:cNvPr id="12" name="Text 10"/>
          <p:cNvSpPr txBox="1"/>
          <p:nvPr/>
        </p:nvSpPr>
        <p:spPr>
          <a:xfrm>
            <a:off x="1700784" y="2880360"/>
            <a:ext cx="960120" cy="868680"/>
          </a:xfrm>
          <a:prstGeom prst="rect">
            <a:avLst/>
          </a:prstGeom>
          <a:noFill/>
          <a:ln/>
        </p:spPr>
        <p:txBody>
          <a:bodyPr wrap="square" lIns="0" tIns="0" rIns="0" bIns="0" rtlCol="0" anchor="ctr"/>
          <a:lstStyle/>
          <a:p>
            <a:pPr algn="ctr" indent="0" marL="0">
              <a:buNone/>
            </a:pPr>
            <a:r>
              <a:rPr lang="en-US" sz="1100" b="1" dirty="0">
                <a:solidFill>
                  <a:srgbClr val="1B2A3F"/>
                </a:solidFill>
                <a:latin typeface="Arial" pitchFamily="34" charset="0"/>
                <a:ea typeface="Arial" pitchFamily="34" charset="-122"/>
                <a:cs typeface="Arial" pitchFamily="34" charset="-120"/>
              </a:rPr>
              <a:t>Internet Gateway</a:t>
            </a:r>
            <a:endParaRPr lang="en-US" sz="1100" dirty="0"/>
          </a:p>
        </p:txBody>
      </p:sp>
      <p:sp>
        <p:nvSpPr>
          <p:cNvPr id="13" name="Text 11"/>
          <p:cNvSpPr txBox="1"/>
          <p:nvPr/>
        </p:nvSpPr>
        <p:spPr>
          <a:xfrm>
            <a:off x="2706624" y="2880360"/>
            <a:ext cx="146304" cy="868680"/>
          </a:xfrm>
          <a:prstGeom prst="rect">
            <a:avLst/>
          </a:prstGeom>
          <a:noFill/>
          <a:ln/>
        </p:spPr>
        <p:txBody>
          <a:bodyPr wrap="square" lIns="0" tIns="0" rIns="0" bIns="0" rtlCol="0" anchor="ctr"/>
          <a:lstStyle/>
          <a:p>
            <a:pPr algn="ctr" indent="0" marL="0">
              <a:buNone/>
            </a:pPr>
            <a:r>
              <a:rPr lang="en-US" sz="2000" b="1" dirty="0">
                <a:solidFill>
                  <a:srgbClr val="FF9900"/>
                </a:solidFill>
                <a:latin typeface="Arial" pitchFamily="34" charset="0"/>
                <a:ea typeface="Arial" pitchFamily="34" charset="-122"/>
                <a:cs typeface="Arial" pitchFamily="34" charset="-120"/>
              </a:rPr>
              <a:t>›</a:t>
            </a:r>
            <a:endParaRPr lang="en-US" sz="2000" dirty="0"/>
          </a:p>
        </p:txBody>
      </p:sp>
      <p:sp>
        <p:nvSpPr>
          <p:cNvPr id="14" name="Shape 12"/>
          <p:cNvSpPr/>
          <p:nvPr/>
        </p:nvSpPr>
        <p:spPr>
          <a:xfrm>
            <a:off x="2852928" y="2880360"/>
            <a:ext cx="1051560" cy="868680"/>
          </a:xfrm>
          <a:prstGeom prst="roundRect">
            <a:avLst>
              <a:gd name="adj" fmla="val 8421"/>
            </a:avLst>
          </a:prstGeom>
          <a:solidFill>
            <a:srgbClr val="F1F4F8"/>
          </a:solidFill>
          <a:ln/>
          <a:effectLst>
            <a:outerShdw sx="100000" sy="100000" kx="0" ky="0" algn="bl" rotWithShape="0" blurRad="101600" dist="25400" dir="5400000">
              <a:srgbClr val="000000">
                <a:alpha val="12000"/>
              </a:srgbClr>
            </a:outerShdw>
          </a:effectLst>
        </p:spPr>
      </p:sp>
      <p:sp>
        <p:nvSpPr>
          <p:cNvPr id="15" name="Text 13"/>
          <p:cNvSpPr txBox="1"/>
          <p:nvPr/>
        </p:nvSpPr>
        <p:spPr>
          <a:xfrm>
            <a:off x="2898648" y="2880360"/>
            <a:ext cx="960120" cy="868680"/>
          </a:xfrm>
          <a:prstGeom prst="rect">
            <a:avLst/>
          </a:prstGeom>
          <a:noFill/>
          <a:ln/>
        </p:spPr>
        <p:txBody>
          <a:bodyPr wrap="square" lIns="0" tIns="0" rIns="0" bIns="0" rtlCol="0" anchor="ctr"/>
          <a:lstStyle/>
          <a:p>
            <a:pPr algn="ctr" indent="0" marL="0">
              <a:buNone/>
            </a:pPr>
            <a:r>
              <a:rPr lang="en-US" sz="1100" b="1" dirty="0">
                <a:solidFill>
                  <a:srgbClr val="1B2A3F"/>
                </a:solidFill>
                <a:latin typeface="Arial" pitchFamily="34" charset="0"/>
                <a:ea typeface="Arial" pitchFamily="34" charset="-122"/>
                <a:cs typeface="Arial" pitchFamily="34" charset="-120"/>
              </a:rPr>
              <a:t>Route table</a:t>
            </a:r>
            <a:endParaRPr lang="en-US" sz="1100" dirty="0"/>
          </a:p>
        </p:txBody>
      </p:sp>
      <p:sp>
        <p:nvSpPr>
          <p:cNvPr id="16" name="Text 14"/>
          <p:cNvSpPr txBox="1"/>
          <p:nvPr/>
        </p:nvSpPr>
        <p:spPr>
          <a:xfrm>
            <a:off x="3904488" y="2880360"/>
            <a:ext cx="146304" cy="868680"/>
          </a:xfrm>
          <a:prstGeom prst="rect">
            <a:avLst/>
          </a:prstGeom>
          <a:noFill/>
          <a:ln/>
        </p:spPr>
        <p:txBody>
          <a:bodyPr wrap="square" lIns="0" tIns="0" rIns="0" bIns="0" rtlCol="0" anchor="ctr"/>
          <a:lstStyle/>
          <a:p>
            <a:pPr algn="ctr" indent="0" marL="0">
              <a:buNone/>
            </a:pPr>
            <a:r>
              <a:rPr lang="en-US" sz="2000" b="1" dirty="0">
                <a:solidFill>
                  <a:srgbClr val="FF9900"/>
                </a:solidFill>
                <a:latin typeface="Arial" pitchFamily="34" charset="0"/>
                <a:ea typeface="Arial" pitchFamily="34" charset="-122"/>
                <a:cs typeface="Arial" pitchFamily="34" charset="-120"/>
              </a:rPr>
              <a:t>›</a:t>
            </a:r>
            <a:endParaRPr lang="en-US" sz="2000" dirty="0"/>
          </a:p>
        </p:txBody>
      </p:sp>
      <p:sp>
        <p:nvSpPr>
          <p:cNvPr id="17" name="Shape 15"/>
          <p:cNvSpPr/>
          <p:nvPr/>
        </p:nvSpPr>
        <p:spPr>
          <a:xfrm>
            <a:off x="4050792" y="2880360"/>
            <a:ext cx="1051560" cy="868680"/>
          </a:xfrm>
          <a:prstGeom prst="roundRect">
            <a:avLst>
              <a:gd name="adj" fmla="val 8421"/>
            </a:avLst>
          </a:prstGeom>
          <a:solidFill>
            <a:srgbClr val="F1F4F8"/>
          </a:solidFill>
          <a:ln/>
          <a:effectLst>
            <a:outerShdw sx="100000" sy="100000" kx="0" ky="0" algn="bl" rotWithShape="0" blurRad="101600" dist="25400" dir="5400000">
              <a:srgbClr val="000000">
                <a:alpha val="12000"/>
              </a:srgbClr>
            </a:outerShdw>
          </a:effectLst>
        </p:spPr>
      </p:sp>
      <p:sp>
        <p:nvSpPr>
          <p:cNvPr id="18" name="Text 16"/>
          <p:cNvSpPr txBox="1"/>
          <p:nvPr/>
        </p:nvSpPr>
        <p:spPr>
          <a:xfrm>
            <a:off x="4096512" y="2880360"/>
            <a:ext cx="960120" cy="868680"/>
          </a:xfrm>
          <a:prstGeom prst="rect">
            <a:avLst/>
          </a:prstGeom>
          <a:noFill/>
          <a:ln/>
        </p:spPr>
        <p:txBody>
          <a:bodyPr wrap="square" lIns="0" tIns="0" rIns="0" bIns="0" rtlCol="0" anchor="ctr"/>
          <a:lstStyle/>
          <a:p>
            <a:pPr algn="ctr" indent="0" marL="0">
              <a:buNone/>
            </a:pPr>
            <a:r>
              <a:rPr lang="en-US" sz="1100" b="1" dirty="0">
                <a:solidFill>
                  <a:srgbClr val="1B2A3F"/>
                </a:solidFill>
                <a:latin typeface="Arial" pitchFamily="34" charset="0"/>
                <a:ea typeface="Arial" pitchFamily="34" charset="-122"/>
                <a:cs typeface="Arial" pitchFamily="34" charset="-120"/>
              </a:rPr>
              <a:t>Public subnet</a:t>
            </a:r>
            <a:endParaRPr lang="en-US" sz="1100" dirty="0"/>
          </a:p>
        </p:txBody>
      </p:sp>
      <p:sp>
        <p:nvSpPr>
          <p:cNvPr id="19" name="Text 17"/>
          <p:cNvSpPr txBox="1"/>
          <p:nvPr/>
        </p:nvSpPr>
        <p:spPr>
          <a:xfrm>
            <a:off x="5102352" y="2880360"/>
            <a:ext cx="146304" cy="868680"/>
          </a:xfrm>
          <a:prstGeom prst="rect">
            <a:avLst/>
          </a:prstGeom>
          <a:noFill/>
          <a:ln/>
        </p:spPr>
        <p:txBody>
          <a:bodyPr wrap="square" lIns="0" tIns="0" rIns="0" bIns="0" rtlCol="0" anchor="ctr"/>
          <a:lstStyle/>
          <a:p>
            <a:pPr algn="ctr" indent="0" marL="0">
              <a:buNone/>
            </a:pPr>
            <a:r>
              <a:rPr lang="en-US" sz="2000" b="1" dirty="0">
                <a:solidFill>
                  <a:srgbClr val="FF9900"/>
                </a:solidFill>
                <a:latin typeface="Arial" pitchFamily="34" charset="0"/>
                <a:ea typeface="Arial" pitchFamily="34" charset="-122"/>
                <a:cs typeface="Arial" pitchFamily="34" charset="-120"/>
              </a:rPr>
              <a:t>›</a:t>
            </a:r>
            <a:endParaRPr lang="en-US" sz="2000" dirty="0"/>
          </a:p>
        </p:txBody>
      </p:sp>
      <p:sp>
        <p:nvSpPr>
          <p:cNvPr id="20" name="Shape 18"/>
          <p:cNvSpPr/>
          <p:nvPr/>
        </p:nvSpPr>
        <p:spPr>
          <a:xfrm>
            <a:off x="5248656" y="2880360"/>
            <a:ext cx="1051560" cy="868680"/>
          </a:xfrm>
          <a:prstGeom prst="roundRect">
            <a:avLst>
              <a:gd name="adj" fmla="val 8421"/>
            </a:avLst>
          </a:prstGeom>
          <a:solidFill>
            <a:srgbClr val="F1F4F8"/>
          </a:solidFill>
          <a:ln/>
          <a:effectLst>
            <a:outerShdw sx="100000" sy="100000" kx="0" ky="0" algn="bl" rotWithShape="0" blurRad="101600" dist="25400" dir="5400000">
              <a:srgbClr val="000000">
                <a:alpha val="12000"/>
              </a:srgbClr>
            </a:outerShdw>
          </a:effectLst>
        </p:spPr>
      </p:sp>
      <p:sp>
        <p:nvSpPr>
          <p:cNvPr id="21" name="Text 19"/>
          <p:cNvSpPr txBox="1"/>
          <p:nvPr/>
        </p:nvSpPr>
        <p:spPr>
          <a:xfrm>
            <a:off x="5294376" y="2880360"/>
            <a:ext cx="960120" cy="868680"/>
          </a:xfrm>
          <a:prstGeom prst="rect">
            <a:avLst/>
          </a:prstGeom>
          <a:noFill/>
          <a:ln/>
        </p:spPr>
        <p:txBody>
          <a:bodyPr wrap="square" lIns="0" tIns="0" rIns="0" bIns="0" rtlCol="0" anchor="ctr"/>
          <a:lstStyle/>
          <a:p>
            <a:pPr algn="ctr" indent="0" marL="0">
              <a:buNone/>
            </a:pPr>
            <a:r>
              <a:rPr lang="en-US" sz="1100" b="1" dirty="0">
                <a:solidFill>
                  <a:srgbClr val="1B2A3F"/>
                </a:solidFill>
                <a:latin typeface="Arial" pitchFamily="34" charset="0"/>
                <a:ea typeface="Arial" pitchFamily="34" charset="-122"/>
                <a:cs typeface="Arial" pitchFamily="34" charset="-120"/>
              </a:rPr>
              <a:t>Security group :80</a:t>
            </a:r>
            <a:endParaRPr lang="en-US" sz="1100" dirty="0"/>
          </a:p>
        </p:txBody>
      </p:sp>
      <p:sp>
        <p:nvSpPr>
          <p:cNvPr id="22" name="Text 20"/>
          <p:cNvSpPr txBox="1"/>
          <p:nvPr/>
        </p:nvSpPr>
        <p:spPr>
          <a:xfrm>
            <a:off x="6300216" y="2880360"/>
            <a:ext cx="146304" cy="868680"/>
          </a:xfrm>
          <a:prstGeom prst="rect">
            <a:avLst/>
          </a:prstGeom>
          <a:noFill/>
          <a:ln/>
        </p:spPr>
        <p:txBody>
          <a:bodyPr wrap="square" lIns="0" tIns="0" rIns="0" bIns="0" rtlCol="0" anchor="ctr"/>
          <a:lstStyle/>
          <a:p>
            <a:pPr algn="ctr" indent="0" marL="0">
              <a:buNone/>
            </a:pPr>
            <a:r>
              <a:rPr lang="en-US" sz="2000" b="1" dirty="0">
                <a:solidFill>
                  <a:srgbClr val="FF9900"/>
                </a:solidFill>
                <a:latin typeface="Arial" pitchFamily="34" charset="0"/>
                <a:ea typeface="Arial" pitchFamily="34" charset="-122"/>
                <a:cs typeface="Arial" pitchFamily="34" charset="-120"/>
              </a:rPr>
              <a:t>›</a:t>
            </a:r>
            <a:endParaRPr lang="en-US" sz="2000" dirty="0"/>
          </a:p>
        </p:txBody>
      </p:sp>
      <p:sp>
        <p:nvSpPr>
          <p:cNvPr id="23" name="Shape 21"/>
          <p:cNvSpPr/>
          <p:nvPr/>
        </p:nvSpPr>
        <p:spPr>
          <a:xfrm>
            <a:off x="6446520" y="2880360"/>
            <a:ext cx="1051560" cy="868680"/>
          </a:xfrm>
          <a:prstGeom prst="roundRect">
            <a:avLst>
              <a:gd name="adj" fmla="val 8421"/>
            </a:avLst>
          </a:prstGeom>
          <a:solidFill>
            <a:srgbClr val="F1F4F8"/>
          </a:solidFill>
          <a:ln/>
          <a:effectLst>
            <a:outerShdw sx="100000" sy="100000" kx="0" ky="0" algn="bl" rotWithShape="0" blurRad="101600" dist="25400" dir="5400000">
              <a:srgbClr val="000000">
                <a:alpha val="12000"/>
              </a:srgbClr>
            </a:outerShdw>
          </a:effectLst>
        </p:spPr>
      </p:sp>
      <p:sp>
        <p:nvSpPr>
          <p:cNvPr id="24" name="Text 22"/>
          <p:cNvSpPr txBox="1"/>
          <p:nvPr/>
        </p:nvSpPr>
        <p:spPr>
          <a:xfrm>
            <a:off x="6492240" y="2880360"/>
            <a:ext cx="960120" cy="868680"/>
          </a:xfrm>
          <a:prstGeom prst="rect">
            <a:avLst/>
          </a:prstGeom>
          <a:noFill/>
          <a:ln/>
        </p:spPr>
        <p:txBody>
          <a:bodyPr wrap="square" lIns="0" tIns="0" rIns="0" bIns="0" rtlCol="0" anchor="ctr"/>
          <a:lstStyle/>
          <a:p>
            <a:pPr algn="ctr" indent="0" marL="0">
              <a:buNone/>
            </a:pPr>
            <a:r>
              <a:rPr lang="en-US" sz="1100" b="1" dirty="0">
                <a:solidFill>
                  <a:srgbClr val="1B2A3F"/>
                </a:solidFill>
                <a:latin typeface="Arial" pitchFamily="34" charset="0"/>
                <a:ea typeface="Arial" pitchFamily="34" charset="-122"/>
                <a:cs typeface="Arial" pitchFamily="34" charset="-120"/>
              </a:rPr>
              <a:t>EC2</a:t>
            </a:r>
            <a:endParaRPr lang="en-US" sz="1100" dirty="0"/>
          </a:p>
        </p:txBody>
      </p:sp>
      <p:sp>
        <p:nvSpPr>
          <p:cNvPr id="25" name="Text 23"/>
          <p:cNvSpPr txBox="1"/>
          <p:nvPr/>
        </p:nvSpPr>
        <p:spPr>
          <a:xfrm>
            <a:off x="7498080" y="2880360"/>
            <a:ext cx="146304" cy="868680"/>
          </a:xfrm>
          <a:prstGeom prst="rect">
            <a:avLst/>
          </a:prstGeom>
          <a:noFill/>
          <a:ln/>
        </p:spPr>
        <p:txBody>
          <a:bodyPr wrap="square" lIns="0" tIns="0" rIns="0" bIns="0" rtlCol="0" anchor="ctr"/>
          <a:lstStyle/>
          <a:p>
            <a:pPr algn="ctr" indent="0" marL="0">
              <a:buNone/>
            </a:pPr>
            <a:r>
              <a:rPr lang="en-US" sz="2000" b="1" dirty="0">
                <a:solidFill>
                  <a:srgbClr val="FF9900"/>
                </a:solidFill>
                <a:latin typeface="Arial" pitchFamily="34" charset="0"/>
                <a:ea typeface="Arial" pitchFamily="34" charset="-122"/>
                <a:cs typeface="Arial" pitchFamily="34" charset="-120"/>
              </a:rPr>
              <a:t>›</a:t>
            </a:r>
            <a:endParaRPr lang="en-US" sz="2000" dirty="0"/>
          </a:p>
        </p:txBody>
      </p:sp>
      <p:sp>
        <p:nvSpPr>
          <p:cNvPr id="26" name="Shape 24"/>
          <p:cNvSpPr/>
          <p:nvPr/>
        </p:nvSpPr>
        <p:spPr>
          <a:xfrm>
            <a:off x="7644384" y="2880360"/>
            <a:ext cx="1051560" cy="868680"/>
          </a:xfrm>
          <a:prstGeom prst="roundRect">
            <a:avLst>
              <a:gd name="adj" fmla="val 8421"/>
            </a:avLst>
          </a:prstGeom>
          <a:solidFill>
            <a:srgbClr val="0F1B2D"/>
          </a:solidFill>
          <a:ln/>
          <a:effectLst>
            <a:outerShdw sx="100000" sy="100000" kx="0" ky="0" algn="bl" rotWithShape="0" blurRad="101600" dist="25400" dir="5400000">
              <a:srgbClr val="000000">
                <a:alpha val="12000"/>
              </a:srgbClr>
            </a:outerShdw>
          </a:effectLst>
        </p:spPr>
      </p:sp>
      <p:sp>
        <p:nvSpPr>
          <p:cNvPr id="27" name="Text 25"/>
          <p:cNvSpPr txBox="1"/>
          <p:nvPr/>
        </p:nvSpPr>
        <p:spPr>
          <a:xfrm>
            <a:off x="7690104" y="2880360"/>
            <a:ext cx="960120" cy="86868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Nginx</a:t>
            </a:r>
            <a:endParaRPr lang="en-US" sz="1100" dirty="0"/>
          </a:p>
        </p:txBody>
      </p:sp>
      <p:sp>
        <p:nvSpPr>
          <p:cNvPr id="28" name="Text 26"/>
          <p:cNvSpPr txBox="1"/>
          <p:nvPr/>
        </p:nvSpPr>
        <p:spPr>
          <a:xfrm>
            <a:off x="457200" y="4114800"/>
            <a:ext cx="8229600" cy="457200"/>
          </a:xfrm>
          <a:prstGeom prst="rect">
            <a:avLst/>
          </a:prstGeom>
          <a:noFill/>
          <a:ln/>
        </p:spPr>
        <p:txBody>
          <a:bodyPr wrap="square" lIns="0" tIns="0" rIns="0" bIns="0" rtlCol="0" anchor="t"/>
          <a:lstStyle/>
          <a:p>
            <a:pPr indent="0" marL="0">
              <a:buNone/>
            </a:pPr>
            <a:r>
              <a:rPr lang="en-US" sz="1400" dirty="0">
                <a:solidFill>
                  <a:srgbClr val="33445A"/>
                </a:solidFill>
                <a:latin typeface="Arial" pitchFamily="34" charset="0"/>
                <a:ea typeface="Arial" pitchFamily="34" charset="-122"/>
                <a:cs typeface="Arial" pitchFamily="34" charset="-120"/>
              </a:rPr>
              <a:t>Cleanup: terminate the instance, then delete the security group, gateway, subnet and VPC to avoid charges.</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latin typeface="Arial"/>
                <a:ea typeface="Arial"/>
                <a:cs typeface="Aria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457200" y="320040"/>
            <a:ext cx="6766560" cy="548640"/>
          </a:xfrm>
          <a:prstGeom prst="rect">
            <a:avLst/>
          </a:prstGeom>
          <a:noFill/>
          <a:ln/>
        </p:spPr>
        <p:txBody>
          <a:bodyPr wrap="square" lIns="0" tIns="0" rIns="0" bIns="0" rtlCol="0" anchor="ctr"/>
          <a:lstStyle/>
          <a:p>
            <a:pPr indent="0" marL="0">
              <a:buNone/>
            </a:pPr>
            <a:r>
              <a:rPr lang="en-US" sz="3000" b="1" dirty="0">
                <a:solidFill>
                  <a:srgbClr val="1B2A3F"/>
                </a:solidFill>
                <a:latin typeface="Arial" pitchFamily="34" charset="0"/>
                <a:ea typeface="Arial" pitchFamily="34" charset="-122"/>
                <a:cs typeface="Arial" pitchFamily="34" charset="-120"/>
              </a:rPr>
              <a:t>Troubleshooting checklist</a:t>
            </a:r>
            <a:endParaRPr lang="en-US" sz="3000" dirty="0"/>
          </a:p>
        </p:txBody>
      </p:sp>
      <p:sp>
        <p:nvSpPr>
          <p:cNvPr id="3" name="Tag"/>
          <p:cNvSpPr/>
          <p:nvPr/>
        </p:nvSpPr>
        <p:spPr>
          <a:xfrm>
            <a:off x="7406640" y="411480"/>
            <a:ext cx="1280160" cy="365760"/>
          </a:xfrm>
          <a:prstGeom prst="roundRect">
            <a:avLst>
              <a:gd name="adj" fmla="val 50000"/>
            </a:avLst>
          </a:prstGeom>
          <a:solidFill>
            <a:srgbClr val="0E7C7B"/>
          </a:solidFill>
          <a:ln/>
        </p:spPr>
      </p:sp>
      <p:sp>
        <p:nvSpPr>
          <p:cNvPr id="4" name="TagText"/>
          <p:cNvSpPr txBox="1"/>
          <p:nvPr/>
        </p:nvSpPr>
        <p:spPr>
          <a:xfrm>
            <a:off x="7406640" y="411480"/>
            <a:ext cx="12801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Q2 · VPC + EC2</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377440"/>
                <a:gridCol w="5852160"/>
              </a:tblGrid>
              <a:tr h="0">
                <a:tc>
                  <a:txBody>
                    <a:bodyPr/>
                    <a:lstStyle/>
                    <a:p>
                      <a:pPr indent="0" marL="0">
                        <a:buNone/>
                      </a:pPr>
                      <a:r>
                        <a:rPr lang="en-US" sz="1400" b="1" dirty="0">
                          <a:solidFill>
                            <a:srgbClr val="FFFFFF"/>
                          </a:solidFill>
                          <a:latin typeface="Arial" pitchFamily="34" charset="0"/>
                          <a:ea typeface="Arial" pitchFamily="34" charset="-122"/>
                          <a:cs typeface="Arial" pitchFamily="34" charset="-120"/>
                        </a:rPr>
                        <a:t>Problem</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What to check</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0E7C7B"/>
                    </a:solidFill>
                  </a:tcPr>
                </a:tc>
              </a:tr>
              <a:tr h="0">
                <a:tc>
                  <a:txBody>
                    <a:bodyPr/>
                    <a:lstStyle/>
                    <a:p>
                      <a:pPr indent="0" marL="0">
                        <a:buNone/>
                      </a:pPr>
                      <a:r>
                        <a:rPr lang="en-US" sz="1400" dirty="0">
                          <a:solidFill>
                            <a:srgbClr val="1B2A3F"/>
                          </a:solidFill>
                          <a:latin typeface="Arial" pitchFamily="34" charset="0"/>
                          <a:ea typeface="Arial" pitchFamily="34" charset="-122"/>
                          <a:cs typeface="Arial" pitchFamily="34" charset="-120"/>
                        </a:rPr>
                        <a:t>SSH times out</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1F4F8"/>
                    </a:solidFill>
                  </a:tcPr>
                </a:tc>
                <a:tc>
                  <a:txBody>
                    <a:bodyPr/>
                    <a:lstStyle/>
                    <a:p>
                      <a:pPr indent="0" marL="0">
                        <a:buNone/>
                      </a:pPr>
                      <a:r>
                        <a:rPr lang="en-US" sz="1400" dirty="0">
                          <a:solidFill>
                            <a:srgbClr val="1B2A3F"/>
                          </a:solidFill>
                          <a:latin typeface="Arial" pitchFamily="34" charset="0"/>
                          <a:ea typeface="Arial" pitchFamily="34" charset="-122"/>
                          <a:cs typeface="Arial" pitchFamily="34" charset="-120"/>
                        </a:rPr>
                        <a:t>SSH source in web-sg, public IP, route to the gateway, network blocking port 22</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1F4F8"/>
                    </a:solidFill>
                  </a:tcPr>
                </a:tc>
              </a:tr>
              <a:tr h="0">
                <a:tc>
                  <a:txBody>
                    <a:bodyPr/>
                    <a:lstStyle/>
                    <a:p>
                      <a:pPr indent="0" marL="0">
                        <a:buNone/>
                      </a:pPr>
                      <a:r>
                        <a:rPr lang="en-US" sz="1400" dirty="0">
                          <a:solidFill>
                            <a:srgbClr val="1B2A3F"/>
                          </a:solidFill>
                          <a:latin typeface="Arial" pitchFamily="34" charset="0"/>
                          <a:ea typeface="Arial" pitchFamily="34" charset="-122"/>
                          <a:cs typeface="Arial" pitchFamily="34" charset="-120"/>
                        </a:rPr>
                        <a:t>Page does not load</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B2A3F"/>
                          </a:solidFill>
                          <a:latin typeface="Arial" pitchFamily="34" charset="0"/>
                          <a:ea typeface="Arial" pitchFamily="34" charset="-122"/>
                          <a:cs typeface="Arial" pitchFamily="34" charset="-120"/>
                        </a:rPr>
                        <a:t>Port 80 rule, http not https, Nginx running</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2A3F"/>
                          </a:solidFill>
                          <a:latin typeface="Arial" pitchFamily="34" charset="0"/>
                          <a:ea typeface="Arial" pitchFamily="34" charset="-122"/>
                          <a:cs typeface="Arial" pitchFamily="34" charset="-120"/>
                        </a:rPr>
                        <a:t>Permission denied</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1F4F8"/>
                    </a:solidFill>
                  </a:tcPr>
                </a:tc>
                <a:tc>
                  <a:txBody>
                    <a:bodyPr/>
                    <a:lstStyle/>
                    <a:p>
                      <a:pPr indent="0" marL="0">
                        <a:buNone/>
                      </a:pPr>
                      <a:r>
                        <a:rPr lang="en-US" sz="1400" dirty="0">
                          <a:solidFill>
                            <a:srgbClr val="1B2A3F"/>
                          </a:solidFill>
                          <a:latin typeface="Arial" pitchFamily="34" charset="0"/>
                          <a:ea typeface="Arial" pitchFamily="34" charset="-122"/>
                          <a:cs typeface="Arial" pitchFamily="34" charset="-120"/>
                        </a:rPr>
                        <a:t>User ubuntu and the correct .pem file</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1F4F8"/>
                    </a:solidFill>
                  </a:tcPr>
                </a:tc>
              </a:tr>
            </a:tbl>
          </a:graphicData>
        </a:graphic>
      </p:graphicFrame>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latin typeface="Arial"/>
                <a:ea typeface="Arial"/>
                <a:cs typeface="Aria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Badge"/>
          <p:cNvSpPr/>
          <p:nvPr/>
        </p:nvSpPr>
        <p:spPr>
          <a:xfrm>
            <a:off x="548640" y="731520"/>
            <a:ext cx="1371600" cy="1371600"/>
          </a:xfrm>
          <a:prstGeom prst="ellipse">
            <a:avLst/>
          </a:prstGeom>
          <a:solidFill>
            <a:srgbClr val="3B5BDB"/>
          </a:solidFill>
          <a:ln/>
        </p:spPr>
      </p:sp>
      <p:sp>
        <p:nvSpPr>
          <p:cNvPr id="3" name="Text 1"/>
          <p:cNvSpPr txBox="1"/>
          <p:nvPr/>
        </p:nvSpPr>
        <p:spPr>
          <a:xfrm>
            <a:off x="548640" y="731520"/>
            <a:ext cx="1371600" cy="137160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Q3</a:t>
            </a:r>
            <a:endParaRPr lang="en-US" sz="4000" dirty="0"/>
          </a:p>
        </p:txBody>
      </p:sp>
      <p:sp>
        <p:nvSpPr>
          <p:cNvPr id="4" name="Text 2"/>
          <p:cNvSpPr txBox="1"/>
          <p:nvPr/>
        </p:nvSpPr>
        <p:spPr>
          <a:xfrm>
            <a:off x="2194560" y="685800"/>
            <a:ext cx="6492240" cy="91440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Student Registration on EC2 and RDS</a:t>
            </a:r>
            <a:endParaRPr lang="en-US" sz="3400" dirty="0"/>
          </a:p>
        </p:txBody>
      </p:sp>
      <p:sp>
        <p:nvSpPr>
          <p:cNvPr id="5" name="Text 3"/>
          <p:cNvSpPr txBox="1"/>
          <p:nvPr/>
        </p:nvSpPr>
        <p:spPr>
          <a:xfrm>
            <a:off x="2194560" y="1645920"/>
            <a:ext cx="6492240" cy="457200"/>
          </a:xfrm>
          <a:prstGeom prst="rect">
            <a:avLst/>
          </a:prstGeom>
          <a:noFill/>
          <a:ln/>
        </p:spPr>
        <p:txBody>
          <a:bodyPr wrap="square" lIns="0" tIns="0" rIns="0" bIns="0" rtlCol="0" anchor="t"/>
          <a:lstStyle/>
          <a:p>
            <a:pPr indent="0" marL="0">
              <a:buNone/>
            </a:pPr>
            <a:r>
              <a:rPr lang="en-US" sz="1600" dirty="0">
                <a:solidFill>
                  <a:srgbClr val="B8C7DA"/>
                </a:solidFill>
                <a:latin typeface="Arial" pitchFamily="34" charset="0"/>
                <a:ea typeface="Arial" pitchFamily="34" charset="-122"/>
                <a:cs typeface="Arial" pitchFamily="34" charset="-120"/>
              </a:rPr>
              <a:t>Flask app on EC2 with a private MySQL database</a:t>
            </a:r>
            <a:endParaRPr lang="en-US" sz="1600" dirty="0"/>
          </a:p>
        </p:txBody>
      </p:sp>
      <p:sp>
        <p:nvSpPr>
          <p:cNvPr id="6" name="QuestionCard"/>
          <p:cNvSpPr/>
          <p:nvPr/>
        </p:nvSpPr>
        <p:spPr>
          <a:xfrm>
            <a:off x="548640" y="2651760"/>
            <a:ext cx="8046720" cy="1828800"/>
          </a:xfrm>
          <a:prstGeom prst="roundRect">
            <a:avLst>
              <a:gd name="adj" fmla="val 6000"/>
            </a:avLst>
          </a:prstGeom>
          <a:solidFill>
            <a:srgbClr val="1B2D45"/>
          </a:solidFill>
          <a:ln/>
        </p:spPr>
      </p:sp>
      <p:sp>
        <p:nvSpPr>
          <p:cNvPr id="7" name="Text 5"/>
          <p:cNvSpPr txBox="1"/>
          <p:nvPr/>
        </p:nvSpPr>
        <p:spPr>
          <a:xfrm>
            <a:off x="822960" y="2834640"/>
            <a:ext cx="2743200" cy="274320"/>
          </a:xfrm>
          <a:prstGeom prst="rect">
            <a:avLst/>
          </a:prstGeom>
          <a:noFill/>
          <a:ln/>
        </p:spPr>
        <p:txBody>
          <a:bodyPr wrap="square" lIns="0" tIns="0" rIns="0" bIns="0" rtlCol="0" anchor="ctr"/>
          <a:lstStyle/>
          <a:p>
            <a:pPr indent="0" marL="0">
              <a:buNone/>
            </a:pPr>
            <a:r>
              <a:rPr lang="en-US" sz="1200" b="1" spc="300" kern="0" dirty="0">
                <a:solidFill>
                  <a:srgbClr val="3B5BDB"/>
                </a:solidFill>
                <a:latin typeface="Arial" pitchFamily="34" charset="0"/>
                <a:ea typeface="Arial" pitchFamily="34" charset="-122"/>
                <a:cs typeface="Arial" pitchFamily="34" charset="-120"/>
              </a:rPr>
              <a:t>QUESTION</a:t>
            </a:r>
            <a:endParaRPr lang="en-US" sz="1200" dirty="0"/>
          </a:p>
        </p:txBody>
      </p:sp>
      <p:sp>
        <p:nvSpPr>
          <p:cNvPr id="8" name="Text 6"/>
          <p:cNvSpPr txBox="1"/>
          <p:nvPr/>
        </p:nvSpPr>
        <p:spPr>
          <a:xfrm>
            <a:off x="822960" y="3154680"/>
            <a:ext cx="7498080" cy="1188720"/>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Deploy a student registration application using Amazon EC2 and Amazon RDS. Configure the EC2 web server and an RDS MySQL database, establish secure connectivity between them, store student records in the database, and demonstrate successful data insertion and retrieval.</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p:cNvSpPr txBox="1"/>
          <p:nvPr/>
        </p:nvSpPr>
        <p:spPr>
          <a:xfrm>
            <a:off x="457200" y="320040"/>
            <a:ext cx="6766560" cy="548640"/>
          </a:xfrm>
          <a:prstGeom prst="rect">
            <a:avLst/>
          </a:prstGeom>
          <a:noFill/>
          <a:ln/>
        </p:spPr>
        <p:txBody>
          <a:bodyPr wrap="square" lIns="0" tIns="0" rIns="0" bIns="0" rtlCol="0" anchor="ctr"/>
          <a:lstStyle/>
          <a:p>
            <a:pPr indent="0" marL="0">
              <a:buNone/>
            </a:pPr>
            <a:r>
              <a:rPr lang="en-US" sz="3000" b="1" dirty="0">
                <a:solidFill>
                  <a:srgbClr val="1B2A3F"/>
                </a:solidFill>
                <a:latin typeface="Arial" pitchFamily="34" charset="0"/>
                <a:ea typeface="Arial" pitchFamily="34" charset="-122"/>
                <a:cs typeface="Arial" pitchFamily="34" charset="-120"/>
              </a:rPr>
              <a:t>Architecture</a:t>
            </a:r>
            <a:endParaRPr lang="en-US" sz="3000" dirty="0"/>
          </a:p>
        </p:txBody>
      </p:sp>
      <p:sp>
        <p:nvSpPr>
          <p:cNvPr id="3" name="Tag"/>
          <p:cNvSpPr/>
          <p:nvPr/>
        </p:nvSpPr>
        <p:spPr>
          <a:xfrm>
            <a:off x="7406640" y="411480"/>
            <a:ext cx="1280160" cy="365760"/>
          </a:xfrm>
          <a:prstGeom prst="roundRect">
            <a:avLst>
              <a:gd name="adj" fmla="val 50000"/>
            </a:avLst>
          </a:prstGeom>
          <a:solidFill>
            <a:srgbClr val="3B5BDB"/>
          </a:solidFill>
          <a:ln/>
        </p:spPr>
      </p:sp>
      <p:sp>
        <p:nvSpPr>
          <p:cNvPr id="4" name="TagText"/>
          <p:cNvSpPr txBox="1"/>
          <p:nvPr/>
        </p:nvSpPr>
        <p:spPr>
          <a:xfrm>
            <a:off x="7406640" y="411480"/>
            <a:ext cx="12801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Q3 · EC2 + RDS</a:t>
            </a:r>
            <a:endParaRPr lang="en-US" sz="1100" dirty="0"/>
          </a:p>
        </p:txBody>
      </p:sp>
      <p:sp>
        <p:nvSpPr>
          <p:cNvPr id="5" name="Shape 3"/>
          <p:cNvSpPr/>
          <p:nvPr/>
        </p:nvSpPr>
        <p:spPr>
          <a:xfrm>
            <a:off x="411480" y="1051560"/>
            <a:ext cx="5212080" cy="3017979"/>
          </a:xfrm>
          <a:prstGeom prst="rect">
            <a:avLst/>
          </a:prstGeom>
          <a:solidFill>
            <a:srgbClr val="FFFFFF"/>
          </a:solidFill>
          <a:ln w="12700">
            <a:solidFill>
              <a:srgbClr val="D9E2EC"/>
            </a:solidFill>
            <a:prstDash val="solid"/>
          </a:ln>
          <a:effectLst>
            <a:outerShdw sx="100000" sy="100000" kx="0" ky="0" algn="bl" rotWithShape="0" blurRad="101600" dist="25400" dir="5400000">
              <a:srgbClr val="000000">
                <a:alpha val="12000"/>
              </a:srgbClr>
            </a:outerShdw>
          </a:effectLst>
        </p:spPr>
      </p:sp>
      <p:pic>
        <p:nvPicPr>
          <p:cNvPr id="6" name="Image 0" descr="/home/claude/w/q3/ppt/media/image-3-1.png">    </p:cNvPr>
          <p:cNvPicPr>
            <a:picLocks noChangeAspect="1"/>
          </p:cNvPicPr>
          <p:nvPr/>
        </p:nvPicPr>
        <p:blipFill>
          <a:blip r:embed="rId1"/>
          <a:stretch>
            <a:fillRect/>
          </a:stretch>
        </p:blipFill>
        <p:spPr>
          <a:xfrm>
            <a:off x="457200" y="1097280"/>
            <a:ext cx="5120640" cy="2926539"/>
          </a:xfrm>
          <a:prstGeom prst="rect">
            <a:avLst/>
          </a:prstGeom>
        </p:spPr>
      </p:pic>
      <p:sp>
        <p:nvSpPr>
          <p:cNvPr id="7" name="Shape 4"/>
          <p:cNvSpPr/>
          <p:nvPr/>
        </p:nvSpPr>
        <p:spPr>
          <a:xfrm>
            <a:off x="5852160" y="1097280"/>
            <a:ext cx="2834640" cy="1005840"/>
          </a:xfrm>
          <a:prstGeom prst="roundRect">
            <a:avLst>
              <a:gd name="adj" fmla="val 9091"/>
            </a:avLst>
          </a:prstGeom>
          <a:solidFill>
            <a:srgbClr val="F1F4F8"/>
          </a:solidFill>
          <a:ln/>
          <a:effectLst>
            <a:outerShdw sx="100000" sy="100000" kx="0" ky="0" algn="bl" rotWithShape="0" blurRad="101600" dist="25400" dir="5400000">
              <a:srgbClr val="000000">
                <a:alpha val="12000"/>
              </a:srgbClr>
            </a:outerShdw>
          </a:effectLst>
        </p:spPr>
      </p:sp>
      <p:sp>
        <p:nvSpPr>
          <p:cNvPr id="8" name="Text 5"/>
          <p:cNvSpPr txBox="1"/>
          <p:nvPr/>
        </p:nvSpPr>
        <p:spPr>
          <a:xfrm>
            <a:off x="6035040" y="1188720"/>
            <a:ext cx="2560320" cy="274320"/>
          </a:xfrm>
          <a:prstGeom prst="rect">
            <a:avLst/>
          </a:prstGeom>
          <a:noFill/>
          <a:ln/>
        </p:spPr>
        <p:txBody>
          <a:bodyPr wrap="square" lIns="0" tIns="0" rIns="0" bIns="0" rtlCol="0" anchor="ctr"/>
          <a:lstStyle/>
          <a:p>
            <a:pPr indent="0" marL="0">
              <a:buNone/>
            </a:pPr>
            <a:r>
              <a:rPr lang="en-US" sz="1400" b="1" dirty="0">
                <a:solidFill>
                  <a:srgbClr val="3B5BDB"/>
                </a:solidFill>
                <a:latin typeface="Arial" pitchFamily="34" charset="0"/>
                <a:ea typeface="Arial" pitchFamily="34" charset="-122"/>
                <a:cs typeface="Arial" pitchFamily="34" charset="-120"/>
              </a:rPr>
              <a:t>Amazon EC2</a:t>
            </a:r>
            <a:endParaRPr lang="en-US" sz="1400" dirty="0"/>
          </a:p>
        </p:txBody>
      </p:sp>
      <p:sp>
        <p:nvSpPr>
          <p:cNvPr id="9" name="Text 6"/>
          <p:cNvSpPr txBox="1"/>
          <p:nvPr/>
        </p:nvSpPr>
        <p:spPr>
          <a:xfrm>
            <a:off x="6035040" y="1481328"/>
            <a:ext cx="2560320" cy="548640"/>
          </a:xfrm>
          <a:prstGeom prst="rect">
            <a:avLst/>
          </a:prstGeom>
          <a:noFill/>
          <a:ln/>
        </p:spPr>
        <p:txBody>
          <a:bodyPr wrap="square" lIns="0" tIns="0" rIns="0" bIns="0" rtlCol="0" anchor="t"/>
          <a:lstStyle/>
          <a:p>
            <a:pPr indent="0" marL="0">
              <a:buNone/>
            </a:pPr>
            <a:r>
              <a:rPr lang="en-US" sz="1200" dirty="0">
                <a:solidFill>
                  <a:srgbClr val="33445A"/>
                </a:solidFill>
                <a:latin typeface="Arial" pitchFamily="34" charset="0"/>
                <a:ea typeface="Arial" pitchFamily="34" charset="-122"/>
                <a:cs typeface="Arial" pitchFamily="34" charset="-120"/>
              </a:rPr>
              <a:t>Ubuntu 24.04 web server, Flask app on port 80</a:t>
            </a:r>
            <a:endParaRPr lang="en-US" sz="1200" dirty="0"/>
          </a:p>
        </p:txBody>
      </p:sp>
      <p:sp>
        <p:nvSpPr>
          <p:cNvPr id="10" name="Shape 7"/>
          <p:cNvSpPr/>
          <p:nvPr/>
        </p:nvSpPr>
        <p:spPr>
          <a:xfrm>
            <a:off x="5852160" y="2240280"/>
            <a:ext cx="2834640" cy="1005840"/>
          </a:xfrm>
          <a:prstGeom prst="roundRect">
            <a:avLst>
              <a:gd name="adj" fmla="val 9091"/>
            </a:avLst>
          </a:prstGeom>
          <a:solidFill>
            <a:srgbClr val="F1F4F8"/>
          </a:solidFill>
          <a:ln/>
          <a:effectLst>
            <a:outerShdw sx="100000" sy="100000" kx="0" ky="0" algn="bl" rotWithShape="0" blurRad="101600" dist="25400" dir="5400000">
              <a:srgbClr val="000000">
                <a:alpha val="12000"/>
              </a:srgbClr>
            </a:outerShdw>
          </a:effectLst>
        </p:spPr>
      </p:sp>
      <p:sp>
        <p:nvSpPr>
          <p:cNvPr id="11" name="Text 8"/>
          <p:cNvSpPr txBox="1"/>
          <p:nvPr/>
        </p:nvSpPr>
        <p:spPr>
          <a:xfrm>
            <a:off x="6035040" y="2331720"/>
            <a:ext cx="2560320" cy="274320"/>
          </a:xfrm>
          <a:prstGeom prst="rect">
            <a:avLst/>
          </a:prstGeom>
          <a:noFill/>
          <a:ln/>
        </p:spPr>
        <p:txBody>
          <a:bodyPr wrap="square" lIns="0" tIns="0" rIns="0" bIns="0" rtlCol="0" anchor="ctr"/>
          <a:lstStyle/>
          <a:p>
            <a:pPr indent="0" marL="0">
              <a:buNone/>
            </a:pPr>
            <a:r>
              <a:rPr lang="en-US" sz="1400" b="1" dirty="0">
                <a:solidFill>
                  <a:srgbClr val="3B5BDB"/>
                </a:solidFill>
                <a:latin typeface="Arial" pitchFamily="34" charset="0"/>
                <a:ea typeface="Arial" pitchFamily="34" charset="-122"/>
                <a:cs typeface="Arial" pitchFamily="34" charset="-120"/>
              </a:rPr>
              <a:t>Amazon RDS</a:t>
            </a:r>
            <a:endParaRPr lang="en-US" sz="1400" dirty="0"/>
          </a:p>
        </p:txBody>
      </p:sp>
      <p:sp>
        <p:nvSpPr>
          <p:cNvPr id="12" name="Text 9"/>
          <p:cNvSpPr txBox="1"/>
          <p:nvPr/>
        </p:nvSpPr>
        <p:spPr>
          <a:xfrm>
            <a:off x="6035040" y="2624328"/>
            <a:ext cx="2560320" cy="548640"/>
          </a:xfrm>
          <a:prstGeom prst="rect">
            <a:avLst/>
          </a:prstGeom>
          <a:noFill/>
          <a:ln/>
        </p:spPr>
        <p:txBody>
          <a:bodyPr wrap="square" lIns="0" tIns="0" rIns="0" bIns="0" rtlCol="0" anchor="t"/>
          <a:lstStyle/>
          <a:p>
            <a:pPr indent="0" marL="0">
              <a:buNone/>
            </a:pPr>
            <a:r>
              <a:rPr lang="en-US" sz="1200" dirty="0">
                <a:solidFill>
                  <a:srgbClr val="33445A"/>
                </a:solidFill>
                <a:latin typeface="Arial" pitchFamily="34" charset="0"/>
                <a:ea typeface="Arial" pitchFamily="34" charset="-122"/>
                <a:cs typeface="Arial" pitchFamily="34" charset="-120"/>
              </a:rPr>
              <a:t>MySQL student-db in private subnets, Public access: No</a:t>
            </a:r>
            <a:endParaRPr lang="en-US" sz="1200" dirty="0"/>
          </a:p>
        </p:txBody>
      </p:sp>
      <p:sp>
        <p:nvSpPr>
          <p:cNvPr id="13" name="Shape 10"/>
          <p:cNvSpPr/>
          <p:nvPr/>
        </p:nvSpPr>
        <p:spPr>
          <a:xfrm>
            <a:off x="5852160" y="3383280"/>
            <a:ext cx="2834640" cy="1005840"/>
          </a:xfrm>
          <a:prstGeom prst="roundRect">
            <a:avLst>
              <a:gd name="adj" fmla="val 9091"/>
            </a:avLst>
          </a:prstGeom>
          <a:solidFill>
            <a:srgbClr val="F1F4F8"/>
          </a:solidFill>
          <a:ln/>
          <a:effectLst>
            <a:outerShdw sx="100000" sy="100000" kx="0" ky="0" algn="bl" rotWithShape="0" blurRad="101600" dist="25400" dir="5400000">
              <a:srgbClr val="000000">
                <a:alpha val="12000"/>
              </a:srgbClr>
            </a:outerShdw>
          </a:effectLst>
        </p:spPr>
      </p:sp>
      <p:sp>
        <p:nvSpPr>
          <p:cNvPr id="14" name="Text 11"/>
          <p:cNvSpPr txBox="1"/>
          <p:nvPr/>
        </p:nvSpPr>
        <p:spPr>
          <a:xfrm>
            <a:off x="6035040" y="3474720"/>
            <a:ext cx="2560320" cy="274320"/>
          </a:xfrm>
          <a:prstGeom prst="rect">
            <a:avLst/>
          </a:prstGeom>
          <a:noFill/>
          <a:ln/>
        </p:spPr>
        <p:txBody>
          <a:bodyPr wrap="square" lIns="0" tIns="0" rIns="0" bIns="0" rtlCol="0" anchor="ctr"/>
          <a:lstStyle/>
          <a:p>
            <a:pPr indent="0" marL="0">
              <a:buNone/>
            </a:pPr>
            <a:r>
              <a:rPr lang="en-US" sz="1400" b="1" dirty="0">
                <a:solidFill>
                  <a:srgbClr val="3B5BDB"/>
                </a:solidFill>
                <a:latin typeface="Arial" pitchFamily="34" charset="0"/>
                <a:ea typeface="Arial" pitchFamily="34" charset="-122"/>
                <a:cs typeface="Arial" pitchFamily="34" charset="-120"/>
              </a:rPr>
              <a:t>VPC + groups</a:t>
            </a:r>
            <a:endParaRPr lang="en-US" sz="1400" dirty="0"/>
          </a:p>
        </p:txBody>
      </p:sp>
      <p:sp>
        <p:nvSpPr>
          <p:cNvPr id="15" name="Text 12"/>
          <p:cNvSpPr txBox="1"/>
          <p:nvPr/>
        </p:nvSpPr>
        <p:spPr>
          <a:xfrm>
            <a:off x="6035040" y="3767328"/>
            <a:ext cx="2560320" cy="548640"/>
          </a:xfrm>
          <a:prstGeom prst="rect">
            <a:avLst/>
          </a:prstGeom>
          <a:noFill/>
          <a:ln/>
        </p:spPr>
        <p:txBody>
          <a:bodyPr wrap="square" lIns="0" tIns="0" rIns="0" bIns="0" rtlCol="0" anchor="t"/>
          <a:lstStyle/>
          <a:p>
            <a:pPr indent="0" marL="0">
              <a:buNone/>
            </a:pPr>
            <a:r>
              <a:rPr lang="en-US" sz="1200" dirty="0">
                <a:solidFill>
                  <a:srgbClr val="33445A"/>
                </a:solidFill>
                <a:latin typeface="Arial" pitchFamily="34" charset="0"/>
                <a:ea typeface="Arial" pitchFamily="34" charset="-122"/>
                <a:cs typeface="Arial" pitchFamily="34" charset="-120"/>
              </a:rPr>
              <a:t>db-sg allows 3306 only from web-sg</a:t>
            </a:r>
            <a:endParaRPr lang="en-US" sz="12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latin typeface="Arial"/>
                <a:ea typeface="Arial"/>
                <a:cs typeface="Aria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le"/>
          <p:cNvSpPr txBox="1"/>
          <p:nvPr/>
        </p:nvSpPr>
        <p:spPr>
          <a:xfrm>
            <a:off x="457200" y="320040"/>
            <a:ext cx="6766560" cy="548640"/>
          </a:xfrm>
          <a:prstGeom prst="rect">
            <a:avLst/>
          </a:prstGeom>
          <a:noFill/>
          <a:ln/>
        </p:spPr>
        <p:txBody>
          <a:bodyPr wrap="square" lIns="0" tIns="0" rIns="0" bIns="0" rtlCol="0" anchor="ctr"/>
          <a:lstStyle/>
          <a:p>
            <a:pPr indent="0" marL="0">
              <a:buNone/>
            </a:pPr>
            <a:r>
              <a:rPr lang="en-US" sz="3000" b="1" dirty="0">
                <a:solidFill>
                  <a:srgbClr val="1B2A3F"/>
                </a:solidFill>
                <a:latin typeface="Arial" pitchFamily="34" charset="0"/>
                <a:ea typeface="Arial" pitchFamily="34" charset="-122"/>
                <a:cs typeface="Arial" pitchFamily="34" charset="-120"/>
              </a:rPr>
              <a:t>Implementation summary</a:t>
            </a:r>
            <a:endParaRPr lang="en-US" sz="3000" dirty="0"/>
          </a:p>
        </p:txBody>
      </p:sp>
      <p:sp>
        <p:nvSpPr>
          <p:cNvPr id="3" name="Tag"/>
          <p:cNvSpPr/>
          <p:nvPr/>
        </p:nvSpPr>
        <p:spPr>
          <a:xfrm>
            <a:off x="7406640" y="411480"/>
            <a:ext cx="1280160" cy="365760"/>
          </a:xfrm>
          <a:prstGeom prst="roundRect">
            <a:avLst>
              <a:gd name="adj" fmla="val 50000"/>
            </a:avLst>
          </a:prstGeom>
          <a:solidFill>
            <a:srgbClr val="3B5BDB"/>
          </a:solidFill>
          <a:ln/>
        </p:spPr>
      </p:sp>
      <p:sp>
        <p:nvSpPr>
          <p:cNvPr id="4" name="TagText"/>
          <p:cNvSpPr txBox="1"/>
          <p:nvPr/>
        </p:nvSpPr>
        <p:spPr>
          <a:xfrm>
            <a:off x="7406640" y="411480"/>
            <a:ext cx="12801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Q3 · EC2 + RDS</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011680"/>
                <a:gridCol w="6217920"/>
              </a:tblGrid>
              <a:tr h="0">
                <a:tc>
                  <a:txBody>
                    <a:bodyPr/>
                    <a:lstStyle/>
                    <a:p>
                      <a:pPr indent="0" marL="0">
                        <a:buNone/>
                      </a:pPr>
                      <a:r>
                        <a:rPr lang="en-US" sz="1400" b="1" dirty="0">
                          <a:solidFill>
                            <a:srgbClr val="FFFFFF"/>
                          </a:solidFill>
                          <a:latin typeface="Arial" pitchFamily="34" charset="0"/>
                          <a:ea typeface="Arial" pitchFamily="34" charset="-122"/>
                          <a:cs typeface="Arial" pitchFamily="34" charset="-120"/>
                        </a:rPr>
                        <a:t>Item</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3B5BDB"/>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Configuration</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3B5BDB"/>
                    </a:solidFill>
                  </a:tcPr>
                </a:tc>
              </a:tr>
              <a:tr h="0">
                <a:tc>
                  <a:txBody>
                    <a:bodyPr/>
                    <a:lstStyle/>
                    <a:p>
                      <a:pPr indent="0" marL="0">
                        <a:buNone/>
                      </a:pPr>
                      <a:r>
                        <a:rPr lang="en-US" sz="1400" dirty="0">
                          <a:solidFill>
                            <a:srgbClr val="1B2A3F"/>
                          </a:solidFill>
                          <a:latin typeface="Arial" pitchFamily="34" charset="0"/>
                          <a:ea typeface="Arial" pitchFamily="34" charset="-122"/>
                          <a:cs typeface="Arial" pitchFamily="34" charset="-120"/>
                        </a:rPr>
                        <a:t>Private subnets</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1F4F8"/>
                    </a:solidFill>
                  </a:tcPr>
                </a:tc>
                <a:tc>
                  <a:txBody>
                    <a:bodyPr/>
                    <a:lstStyle/>
                    <a:p>
                      <a:pPr indent="0" marL="0">
                        <a:buNone/>
                      </a:pPr>
                      <a:r>
                        <a:rPr lang="en-US" sz="1400" dirty="0">
                          <a:solidFill>
                            <a:srgbClr val="1B2A3F"/>
                          </a:solidFill>
                          <a:latin typeface="Arial" pitchFamily="34" charset="0"/>
                          <a:ea typeface="Arial" pitchFamily="34" charset="-122"/>
                          <a:cs typeface="Arial" pitchFamily="34" charset="-120"/>
                        </a:rPr>
                        <a:t>10.0.2.0/24 (1a), 10.0.3.0/24 (1b), no route to the IGW</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1F4F8"/>
                    </a:solidFill>
                  </a:tcPr>
                </a:tc>
              </a:tr>
              <a:tr h="0">
                <a:tc>
                  <a:txBody>
                    <a:bodyPr/>
                    <a:lstStyle/>
                    <a:p>
                      <a:pPr indent="0" marL="0">
                        <a:buNone/>
                      </a:pPr>
                      <a:r>
                        <a:rPr lang="en-US" sz="1400" dirty="0">
                          <a:solidFill>
                            <a:srgbClr val="1B2A3F"/>
                          </a:solidFill>
                          <a:latin typeface="Arial" pitchFamily="34" charset="0"/>
                          <a:ea typeface="Arial" pitchFamily="34" charset="-122"/>
                          <a:cs typeface="Arial" pitchFamily="34" charset="-120"/>
                        </a:rPr>
                        <a:t>db-sg</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B2A3F"/>
                          </a:solidFill>
                          <a:latin typeface="Arial" pitchFamily="34" charset="0"/>
                          <a:ea typeface="Arial" pitchFamily="34" charset="-122"/>
                          <a:cs typeface="Arial" pitchFamily="34" charset="-120"/>
                        </a:rPr>
                        <a:t>MySQL/Aurora, TCP 3306, source = web-sg</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2A3F"/>
                          </a:solidFill>
                          <a:latin typeface="Arial" pitchFamily="34" charset="0"/>
                          <a:ea typeface="Arial" pitchFamily="34" charset="-122"/>
                          <a:cs typeface="Arial" pitchFamily="34" charset="-120"/>
                        </a:rPr>
                        <a:t>DB subnet group</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1F4F8"/>
                    </a:solidFill>
                  </a:tcPr>
                </a:tc>
                <a:tc>
                  <a:txBody>
                    <a:bodyPr/>
                    <a:lstStyle/>
                    <a:p>
                      <a:pPr indent="0" marL="0">
                        <a:buNone/>
                      </a:pPr>
                      <a:r>
                        <a:rPr lang="en-US" sz="1400" dirty="0">
                          <a:solidFill>
                            <a:srgbClr val="1B2A3F"/>
                          </a:solidFill>
                          <a:latin typeface="Arial" pitchFamily="34" charset="0"/>
                          <a:ea typeface="Arial" pitchFamily="34" charset="-122"/>
                          <a:cs typeface="Arial" pitchFamily="34" charset="-120"/>
                        </a:rPr>
                        <a:t>student-db-subnet-group in my-web-vpc</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1F4F8"/>
                    </a:solidFill>
                  </a:tcPr>
                </a:tc>
              </a:tr>
              <a:tr h="0">
                <a:tc>
                  <a:txBody>
                    <a:bodyPr/>
                    <a:lstStyle/>
                    <a:p>
                      <a:pPr indent="0" marL="0">
                        <a:buNone/>
                      </a:pPr>
                      <a:r>
                        <a:rPr lang="en-US" sz="1400" dirty="0">
                          <a:solidFill>
                            <a:srgbClr val="1B2A3F"/>
                          </a:solidFill>
                          <a:latin typeface="Arial" pitchFamily="34" charset="0"/>
                          <a:ea typeface="Arial" pitchFamily="34" charset="-122"/>
                          <a:cs typeface="Arial" pitchFamily="34" charset="-120"/>
                        </a:rPr>
                        <a:t>RDS</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B2A3F"/>
                          </a:solidFill>
                          <a:latin typeface="Arial" pitchFamily="34" charset="0"/>
                          <a:ea typeface="Arial" pitchFamily="34" charset="-122"/>
                          <a:cs typeface="Arial" pitchFamily="34" charset="-120"/>
                        </a:rPr>
                        <a:t>student-db, MySQL 8.4, database studentdb, Public access: No</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2A3F"/>
                          </a:solidFill>
                          <a:latin typeface="Arial" pitchFamily="34" charset="0"/>
                          <a:ea typeface="Arial" pitchFamily="34" charset="-122"/>
                          <a:cs typeface="Arial" pitchFamily="34" charset="-120"/>
                        </a:rPr>
                        <a:t>Credentials</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1F4F8"/>
                    </a:solidFill>
                  </a:tcPr>
                </a:tc>
                <a:tc>
                  <a:txBody>
                    <a:bodyPr/>
                    <a:lstStyle/>
                    <a:p>
                      <a:pPr indent="0" marL="0">
                        <a:buNone/>
                      </a:pPr>
                      <a:r>
                        <a:rPr lang="en-US" sz="1400" dirty="0">
                          <a:solidFill>
                            <a:srgbClr val="1B2A3F"/>
                          </a:solidFill>
                          <a:latin typeface="Arial" pitchFamily="34" charset="0"/>
                          <a:ea typeface="Arial" pitchFamily="34" charset="-122"/>
                          <a:cs typeface="Arial" pitchFamily="34" charset="-120"/>
                        </a:rPr>
                        <a:t>/etc/student-app.env, permission 600</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1F4F8"/>
                    </a:solidFill>
                  </a:tcPr>
                </a:tc>
              </a:tr>
              <a:tr h="0">
                <a:tc>
                  <a:txBody>
                    <a:bodyPr/>
                    <a:lstStyle/>
                    <a:p>
                      <a:pPr indent="0" marL="0">
                        <a:buNone/>
                      </a:pPr>
                      <a:r>
                        <a:rPr lang="en-US" sz="1400" dirty="0">
                          <a:solidFill>
                            <a:srgbClr val="1B2A3F"/>
                          </a:solidFill>
                          <a:latin typeface="Arial" pitchFamily="34" charset="0"/>
                          <a:ea typeface="Arial" pitchFamily="34" charset="-122"/>
                          <a:cs typeface="Arial" pitchFamily="34" charset="-120"/>
                        </a:rPr>
                        <a:t>Application</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B2A3F"/>
                          </a:solidFill>
                          <a:latin typeface="Arial" pitchFamily="34" charset="0"/>
                          <a:ea typeface="Arial" pitchFamily="34" charset="-122"/>
                          <a:cs typeface="Arial" pitchFamily="34" charset="-120"/>
                        </a:rPr>
                        <a:t>Flask + PyMySQL, systemd service student-app, port 80</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latin typeface="Arial"/>
                <a:ea typeface="Arial"/>
                <a:cs typeface="Aria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itle"/>
          <p:cNvSpPr txBox="1"/>
          <p:nvPr/>
        </p:nvSpPr>
        <p:spPr>
          <a:xfrm>
            <a:off x="457200" y="320040"/>
            <a:ext cx="6766560" cy="548640"/>
          </a:xfrm>
          <a:prstGeom prst="rect">
            <a:avLst/>
          </a:prstGeom>
          <a:noFill/>
          <a:ln/>
        </p:spPr>
        <p:txBody>
          <a:bodyPr wrap="square" lIns="0" tIns="0" rIns="0" bIns="0" rtlCol="0" anchor="ctr"/>
          <a:lstStyle/>
          <a:p>
            <a:pPr indent="0" marL="0">
              <a:buNone/>
            </a:pPr>
            <a:r>
              <a:rPr lang="en-US" sz="3000" b="1" dirty="0">
                <a:solidFill>
                  <a:srgbClr val="1B2A3F"/>
                </a:solidFill>
                <a:latin typeface="Arial" pitchFamily="34" charset="0"/>
                <a:ea typeface="Arial" pitchFamily="34" charset="-122"/>
                <a:cs typeface="Arial" pitchFamily="34" charset="-120"/>
              </a:rPr>
              <a:t>Subnets and DB subnet group</a:t>
            </a:r>
            <a:endParaRPr lang="en-US" sz="3000" dirty="0"/>
          </a:p>
        </p:txBody>
      </p:sp>
      <p:sp>
        <p:nvSpPr>
          <p:cNvPr id="3" name="Tag"/>
          <p:cNvSpPr/>
          <p:nvPr/>
        </p:nvSpPr>
        <p:spPr>
          <a:xfrm>
            <a:off x="7406640" y="411480"/>
            <a:ext cx="1280160" cy="365760"/>
          </a:xfrm>
          <a:prstGeom prst="roundRect">
            <a:avLst>
              <a:gd name="adj" fmla="val 50000"/>
            </a:avLst>
          </a:prstGeom>
          <a:solidFill>
            <a:srgbClr val="3B5BDB"/>
          </a:solidFill>
          <a:ln/>
        </p:spPr>
      </p:sp>
      <p:sp>
        <p:nvSpPr>
          <p:cNvPr id="4" name="TagText"/>
          <p:cNvSpPr txBox="1"/>
          <p:nvPr/>
        </p:nvSpPr>
        <p:spPr>
          <a:xfrm>
            <a:off x="7406640" y="411480"/>
            <a:ext cx="12801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Q3 · EC2 + RDS</a:t>
            </a:r>
            <a:endParaRPr lang="en-US" sz="1100" dirty="0"/>
          </a:p>
        </p:txBody>
      </p:sp>
      <p:sp>
        <p:nvSpPr>
          <p:cNvPr id="5" name="Shape 3"/>
          <p:cNvSpPr/>
          <p:nvPr/>
        </p:nvSpPr>
        <p:spPr>
          <a:xfrm>
            <a:off x="411480" y="1143000"/>
            <a:ext cx="4069080" cy="2133226"/>
          </a:xfrm>
          <a:prstGeom prst="rect">
            <a:avLst/>
          </a:prstGeom>
          <a:solidFill>
            <a:srgbClr val="FFFFFF"/>
          </a:solidFill>
          <a:ln w="12700">
            <a:solidFill>
              <a:srgbClr val="D9E2EC"/>
            </a:solidFill>
            <a:prstDash val="solid"/>
          </a:ln>
          <a:effectLst>
            <a:outerShdw sx="100000" sy="100000" kx="0" ky="0" algn="bl" rotWithShape="0" blurRad="101600" dist="25400" dir="5400000">
              <a:srgbClr val="000000">
                <a:alpha val="12000"/>
              </a:srgbClr>
            </a:outerShdw>
          </a:effectLst>
        </p:spPr>
      </p:sp>
      <p:pic>
        <p:nvPicPr>
          <p:cNvPr id="6" name="Image 0" descr="/home/claude/w/q3/ppt/media/image-5-1.png">    </p:cNvPr>
          <p:cNvPicPr>
            <a:picLocks noChangeAspect="1"/>
          </p:cNvPicPr>
          <p:nvPr/>
        </p:nvPicPr>
        <p:blipFill>
          <a:blip r:embed="rId1"/>
          <a:stretch>
            <a:fillRect/>
          </a:stretch>
        </p:blipFill>
        <p:spPr>
          <a:xfrm>
            <a:off x="457200" y="1188720"/>
            <a:ext cx="3977640" cy="2041786"/>
          </a:xfrm>
          <a:prstGeom prst="rect">
            <a:avLst/>
          </a:prstGeom>
        </p:spPr>
      </p:pic>
      <p:sp>
        <p:nvSpPr>
          <p:cNvPr id="7" name="Text 4"/>
          <p:cNvSpPr txBox="1"/>
          <p:nvPr/>
        </p:nvSpPr>
        <p:spPr>
          <a:xfrm>
            <a:off x="457200" y="3340234"/>
            <a:ext cx="3977640" cy="274320"/>
          </a:xfrm>
          <a:prstGeom prst="rect">
            <a:avLst/>
          </a:prstGeom>
          <a:noFill/>
          <a:ln/>
        </p:spPr>
        <p:txBody>
          <a:bodyPr wrap="square" lIns="0" tIns="0" rIns="0" bIns="0" rtlCol="0" anchor="ctr"/>
          <a:lstStyle/>
          <a:p>
            <a:pPr algn="ctr" indent="0" marL="0">
              <a:buNone/>
            </a:pPr>
            <a:r>
              <a:rPr lang="en-US" sz="1200" b="1" dirty="0">
                <a:solidFill>
                  <a:srgbClr val="5B6B7F"/>
                </a:solidFill>
                <a:latin typeface="Arial" pitchFamily="34" charset="0"/>
                <a:ea typeface="Arial" pitchFamily="34" charset="-122"/>
                <a:cs typeface="Arial" pitchFamily="34" charset="-120"/>
              </a:rPr>
              <a:t>Public + two private subnets</a:t>
            </a:r>
            <a:endParaRPr lang="en-US" sz="1200" dirty="0"/>
          </a:p>
        </p:txBody>
      </p:sp>
      <p:sp>
        <p:nvSpPr>
          <p:cNvPr id="8" name="Shape 5"/>
          <p:cNvSpPr/>
          <p:nvPr/>
        </p:nvSpPr>
        <p:spPr>
          <a:xfrm>
            <a:off x="4663440" y="1143000"/>
            <a:ext cx="4069080" cy="2221429"/>
          </a:xfrm>
          <a:prstGeom prst="rect">
            <a:avLst/>
          </a:prstGeom>
          <a:solidFill>
            <a:srgbClr val="FFFFFF"/>
          </a:solidFill>
          <a:ln w="12700">
            <a:solidFill>
              <a:srgbClr val="D9E2EC"/>
            </a:solidFill>
            <a:prstDash val="solid"/>
          </a:ln>
          <a:effectLst>
            <a:outerShdw sx="100000" sy="100000" kx="0" ky="0" algn="bl" rotWithShape="0" blurRad="101600" dist="25400" dir="5400000">
              <a:srgbClr val="000000">
                <a:alpha val="12000"/>
              </a:srgbClr>
            </a:outerShdw>
          </a:effectLst>
        </p:spPr>
      </p:sp>
      <p:pic>
        <p:nvPicPr>
          <p:cNvPr id="9" name="Image 1" descr="/home/claude/w/q3/ppt/media/image-6-1.png">    </p:cNvPr>
          <p:cNvPicPr>
            <a:picLocks noChangeAspect="1"/>
          </p:cNvPicPr>
          <p:nvPr/>
        </p:nvPicPr>
        <p:blipFill>
          <a:blip r:embed="rId2"/>
          <a:stretch>
            <a:fillRect/>
          </a:stretch>
        </p:blipFill>
        <p:spPr>
          <a:xfrm>
            <a:off x="4709160" y="1188720"/>
            <a:ext cx="3977640" cy="2129989"/>
          </a:xfrm>
          <a:prstGeom prst="rect">
            <a:avLst/>
          </a:prstGeom>
        </p:spPr>
      </p:pic>
      <p:sp>
        <p:nvSpPr>
          <p:cNvPr id="10" name="Text 6"/>
          <p:cNvSpPr txBox="1"/>
          <p:nvPr/>
        </p:nvSpPr>
        <p:spPr>
          <a:xfrm>
            <a:off x="4709160" y="3428437"/>
            <a:ext cx="3977640" cy="274320"/>
          </a:xfrm>
          <a:prstGeom prst="rect">
            <a:avLst/>
          </a:prstGeom>
          <a:noFill/>
          <a:ln/>
        </p:spPr>
        <p:txBody>
          <a:bodyPr wrap="square" lIns="0" tIns="0" rIns="0" bIns="0" rtlCol="0" anchor="ctr"/>
          <a:lstStyle/>
          <a:p>
            <a:pPr algn="ctr" indent="0" marL="0">
              <a:buNone/>
            </a:pPr>
            <a:r>
              <a:rPr lang="en-US" sz="1200" b="1" dirty="0">
                <a:solidFill>
                  <a:srgbClr val="5B6B7F"/>
                </a:solidFill>
                <a:latin typeface="Arial" pitchFamily="34" charset="0"/>
                <a:ea typeface="Arial" pitchFamily="34" charset="-122"/>
                <a:cs typeface="Arial" pitchFamily="34" charset="-120"/>
              </a:rPr>
              <a:t>DB subnet group</a:t>
            </a:r>
            <a:endParaRPr lang="en-US" sz="1200" dirty="0"/>
          </a:p>
        </p:txBody>
      </p:sp>
      <p:sp>
        <p:nvSpPr>
          <p:cNvPr id="11" name="Text 7"/>
          <p:cNvSpPr txBox="1"/>
          <p:nvPr/>
        </p:nvSpPr>
        <p:spPr>
          <a:xfrm>
            <a:off x="457200" y="4023360"/>
            <a:ext cx="8229600" cy="548640"/>
          </a:xfrm>
          <a:prstGeom prst="rect">
            <a:avLst/>
          </a:prstGeom>
          <a:noFill/>
          <a:ln/>
        </p:spPr>
        <p:txBody>
          <a:bodyPr wrap="square" lIns="0" tIns="0" rIns="0" bIns="0" rtlCol="0" anchor="t"/>
          <a:lstStyle/>
          <a:p>
            <a:pPr indent="0" marL="0">
              <a:buNone/>
            </a:pPr>
            <a:r>
              <a:rPr lang="en-US" sz="1400" dirty="0">
                <a:solidFill>
                  <a:srgbClr val="33445A"/>
                </a:solidFill>
                <a:latin typeface="Arial" pitchFamily="34" charset="0"/>
                <a:ea typeface="Arial" pitchFamily="34" charset="-122"/>
                <a:cs typeface="Arial" pitchFamily="34" charset="-120"/>
              </a:rPr>
              <a:t>The database lives in two private subnets across two zones, with no route to the Internet Gateway.</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latin typeface="Arial"/>
                <a:ea typeface="Arial"/>
                <a:cs typeface="Aria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itle"/>
          <p:cNvSpPr txBox="1"/>
          <p:nvPr/>
        </p:nvSpPr>
        <p:spPr>
          <a:xfrm>
            <a:off x="457200" y="320040"/>
            <a:ext cx="6766560" cy="548640"/>
          </a:xfrm>
          <a:prstGeom prst="rect">
            <a:avLst/>
          </a:prstGeom>
          <a:noFill/>
          <a:ln/>
        </p:spPr>
        <p:txBody>
          <a:bodyPr wrap="square" lIns="0" tIns="0" rIns="0" bIns="0" rtlCol="0" anchor="ctr"/>
          <a:lstStyle/>
          <a:p>
            <a:pPr indent="0" marL="0">
              <a:buNone/>
            </a:pPr>
            <a:r>
              <a:rPr lang="en-US" sz="3000" b="1" dirty="0">
                <a:solidFill>
                  <a:srgbClr val="1B2A3F"/>
                </a:solidFill>
                <a:latin typeface="Arial" pitchFamily="34" charset="0"/>
                <a:ea typeface="Arial" pitchFamily="34" charset="-122"/>
                <a:cs typeface="Arial" pitchFamily="34" charset="-120"/>
              </a:rPr>
              <a:t>Security group rules</a:t>
            </a:r>
            <a:endParaRPr lang="en-US" sz="3000" dirty="0"/>
          </a:p>
        </p:txBody>
      </p:sp>
      <p:sp>
        <p:nvSpPr>
          <p:cNvPr id="3" name="Tag"/>
          <p:cNvSpPr/>
          <p:nvPr/>
        </p:nvSpPr>
        <p:spPr>
          <a:xfrm>
            <a:off x="7406640" y="411480"/>
            <a:ext cx="1280160" cy="365760"/>
          </a:xfrm>
          <a:prstGeom prst="roundRect">
            <a:avLst>
              <a:gd name="adj" fmla="val 50000"/>
            </a:avLst>
          </a:prstGeom>
          <a:solidFill>
            <a:srgbClr val="3B5BDB"/>
          </a:solidFill>
          <a:ln/>
        </p:spPr>
      </p:sp>
      <p:sp>
        <p:nvSpPr>
          <p:cNvPr id="4" name="TagText"/>
          <p:cNvSpPr txBox="1"/>
          <p:nvPr/>
        </p:nvSpPr>
        <p:spPr>
          <a:xfrm>
            <a:off x="7406640" y="411480"/>
            <a:ext cx="12801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Q3 · EC2 + RDS</a:t>
            </a:r>
            <a:endParaRPr lang="en-US" sz="1100" dirty="0"/>
          </a:p>
        </p:txBody>
      </p:sp>
      <p:sp>
        <p:nvSpPr>
          <p:cNvPr id="5" name="Shape 3"/>
          <p:cNvSpPr/>
          <p:nvPr/>
        </p:nvSpPr>
        <p:spPr>
          <a:xfrm>
            <a:off x="411480" y="1143000"/>
            <a:ext cx="4663440" cy="2525850"/>
          </a:xfrm>
          <a:prstGeom prst="rect">
            <a:avLst/>
          </a:prstGeom>
          <a:solidFill>
            <a:srgbClr val="FFFFFF"/>
          </a:solidFill>
          <a:ln w="12700">
            <a:solidFill>
              <a:srgbClr val="D9E2EC"/>
            </a:solidFill>
            <a:prstDash val="solid"/>
          </a:ln>
          <a:effectLst>
            <a:outerShdw sx="100000" sy="100000" kx="0" ky="0" algn="bl" rotWithShape="0" blurRad="101600" dist="25400" dir="5400000">
              <a:srgbClr val="000000">
                <a:alpha val="12000"/>
              </a:srgbClr>
            </a:outerShdw>
          </a:effectLst>
        </p:spPr>
      </p:sp>
      <p:pic>
        <p:nvPicPr>
          <p:cNvPr id="6" name="Image 0" descr="/home/claude/w/q3/ppt/media/image-7-1.png">    </p:cNvPr>
          <p:cNvPicPr>
            <a:picLocks noChangeAspect="1"/>
          </p:cNvPicPr>
          <p:nvPr/>
        </p:nvPicPr>
        <p:blipFill>
          <a:blip r:embed="rId1"/>
          <a:stretch>
            <a:fillRect/>
          </a:stretch>
        </p:blipFill>
        <p:spPr>
          <a:xfrm>
            <a:off x="457200" y="1188720"/>
            <a:ext cx="4572000" cy="2434410"/>
          </a:xfrm>
          <a:prstGeom prst="rect">
            <a:avLst/>
          </a:prstGeom>
        </p:spPr>
      </p:pic>
      <p:sp>
        <p:nvSpPr>
          <p:cNvPr id="7" name="Text 4"/>
          <p:cNvSpPr txBox="1"/>
          <p:nvPr/>
        </p:nvSpPr>
        <p:spPr>
          <a:xfrm>
            <a:off x="457200" y="3732858"/>
            <a:ext cx="4572000" cy="274320"/>
          </a:xfrm>
          <a:prstGeom prst="rect">
            <a:avLst/>
          </a:prstGeom>
          <a:noFill/>
          <a:ln/>
        </p:spPr>
        <p:txBody>
          <a:bodyPr wrap="square" lIns="0" tIns="0" rIns="0" bIns="0" rtlCol="0" anchor="ctr"/>
          <a:lstStyle/>
          <a:p>
            <a:pPr algn="ctr" indent="0" marL="0">
              <a:buNone/>
            </a:pPr>
            <a:r>
              <a:rPr lang="en-US" sz="1200" b="1" dirty="0">
                <a:solidFill>
                  <a:srgbClr val="5B6B7F"/>
                </a:solidFill>
                <a:latin typeface="Arial" pitchFamily="34" charset="0"/>
                <a:ea typeface="Arial" pitchFamily="34" charset="-122"/>
                <a:cs typeface="Arial" pitchFamily="34" charset="-120"/>
              </a:rPr>
              <a:t>db-sg: MySQL 3306 from web-sg</a:t>
            </a:r>
            <a:endParaRPr lang="en-US" sz="1200" dirty="0"/>
          </a:p>
        </p:txBody>
      </p:sp>
      <p:sp>
        <p:nvSpPr>
          <p:cNvPr id="8" name="Shape 5"/>
          <p:cNvSpPr/>
          <p:nvPr/>
        </p:nvSpPr>
        <p:spPr>
          <a:xfrm>
            <a:off x="5509514" y="1143000"/>
            <a:ext cx="2971293" cy="2560320"/>
          </a:xfrm>
          <a:prstGeom prst="rect">
            <a:avLst/>
          </a:prstGeom>
          <a:solidFill>
            <a:srgbClr val="FFFFFF"/>
          </a:solidFill>
          <a:ln w="12700">
            <a:solidFill>
              <a:srgbClr val="D9E2EC"/>
            </a:solidFill>
            <a:prstDash val="solid"/>
          </a:ln>
          <a:effectLst>
            <a:outerShdw sx="100000" sy="100000" kx="0" ky="0" algn="bl" rotWithShape="0" blurRad="101600" dist="25400" dir="5400000">
              <a:srgbClr val="000000">
                <a:alpha val="12000"/>
              </a:srgbClr>
            </a:outerShdw>
          </a:effectLst>
        </p:spPr>
      </p:sp>
      <p:pic>
        <p:nvPicPr>
          <p:cNvPr id="9" name="Image 1" descr="/home/claude/w/q3/ppt/media/image-8-1.png">    </p:cNvPr>
          <p:cNvPicPr>
            <a:picLocks noChangeAspect="1"/>
          </p:cNvPicPr>
          <p:nvPr/>
        </p:nvPicPr>
        <p:blipFill>
          <a:blip r:embed="rId2"/>
          <a:stretch>
            <a:fillRect/>
          </a:stretch>
        </p:blipFill>
        <p:spPr>
          <a:xfrm>
            <a:off x="5555234" y="1188720"/>
            <a:ext cx="2879853" cy="2468880"/>
          </a:xfrm>
          <a:prstGeom prst="rect">
            <a:avLst/>
          </a:prstGeom>
        </p:spPr>
      </p:pic>
      <p:sp>
        <p:nvSpPr>
          <p:cNvPr id="10" name="Text 6"/>
          <p:cNvSpPr txBox="1"/>
          <p:nvPr/>
        </p:nvSpPr>
        <p:spPr>
          <a:xfrm>
            <a:off x="5303520" y="3767328"/>
            <a:ext cx="3383280" cy="274320"/>
          </a:xfrm>
          <a:prstGeom prst="rect">
            <a:avLst/>
          </a:prstGeom>
          <a:noFill/>
          <a:ln/>
        </p:spPr>
        <p:txBody>
          <a:bodyPr wrap="square" lIns="0" tIns="0" rIns="0" bIns="0" rtlCol="0" anchor="ctr"/>
          <a:lstStyle/>
          <a:p>
            <a:pPr algn="ctr" indent="0" marL="0">
              <a:buNone/>
            </a:pPr>
            <a:r>
              <a:rPr lang="en-US" sz="1200" b="1" dirty="0">
                <a:solidFill>
                  <a:srgbClr val="5B6B7F"/>
                </a:solidFill>
                <a:latin typeface="Arial" pitchFamily="34" charset="0"/>
                <a:ea typeface="Arial" pitchFamily="34" charset="-122"/>
                <a:cs typeface="Arial" pitchFamily="34" charset="-120"/>
              </a:rPr>
              <a:t>web-sg inbound rules</a:t>
            </a:r>
            <a:endParaRPr lang="en-US" sz="1200" dirty="0"/>
          </a:p>
        </p:txBody>
      </p:sp>
      <p:sp>
        <p:nvSpPr>
          <p:cNvPr id="11" name="Text 7"/>
          <p:cNvSpPr txBox="1"/>
          <p:nvPr/>
        </p:nvSpPr>
        <p:spPr>
          <a:xfrm>
            <a:off x="457200" y="4206240"/>
            <a:ext cx="8229600" cy="457200"/>
          </a:xfrm>
          <a:prstGeom prst="rect">
            <a:avLst/>
          </a:prstGeom>
          <a:noFill/>
          <a:ln/>
        </p:spPr>
        <p:txBody>
          <a:bodyPr wrap="square" lIns="0" tIns="0" rIns="0" bIns="0" rtlCol="0" anchor="t"/>
          <a:lstStyle/>
          <a:p>
            <a:pPr indent="0" marL="0">
              <a:buNone/>
            </a:pPr>
            <a:r>
              <a:rPr lang="en-US" sz="1400" dirty="0">
                <a:solidFill>
                  <a:srgbClr val="33445A"/>
                </a:solidFill>
                <a:latin typeface="Arial" pitchFamily="34" charset="0"/>
                <a:ea typeface="Arial" pitchFamily="34" charset="-122"/>
                <a:cs typeface="Arial" pitchFamily="34" charset="-120"/>
              </a:rPr>
              <a:t>Only the web server security group can reach the database on port 3306.</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latin typeface="Arial"/>
                <a:ea typeface="Arial"/>
                <a:cs typeface="Aria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itle"/>
          <p:cNvSpPr txBox="1"/>
          <p:nvPr/>
        </p:nvSpPr>
        <p:spPr>
          <a:xfrm>
            <a:off x="457200" y="320040"/>
            <a:ext cx="6766560" cy="548640"/>
          </a:xfrm>
          <a:prstGeom prst="rect">
            <a:avLst/>
          </a:prstGeom>
          <a:noFill/>
          <a:ln/>
        </p:spPr>
        <p:txBody>
          <a:bodyPr wrap="square" lIns="0" tIns="0" rIns="0" bIns="0" rtlCol="0" anchor="ctr"/>
          <a:lstStyle/>
          <a:p>
            <a:pPr indent="0" marL="0">
              <a:buNone/>
            </a:pPr>
            <a:r>
              <a:rPr lang="en-US" sz="3000" b="1" dirty="0">
                <a:solidFill>
                  <a:srgbClr val="1B2A3F"/>
                </a:solidFill>
                <a:latin typeface="Arial" pitchFamily="34" charset="0"/>
                <a:ea typeface="Arial" pitchFamily="34" charset="-122"/>
                <a:cs typeface="Arial" pitchFamily="34" charset="-120"/>
              </a:rPr>
              <a:t>SSH rule and app service</a:t>
            </a:r>
            <a:endParaRPr lang="en-US" sz="3000" dirty="0"/>
          </a:p>
        </p:txBody>
      </p:sp>
      <p:sp>
        <p:nvSpPr>
          <p:cNvPr id="3" name="Tag"/>
          <p:cNvSpPr/>
          <p:nvPr/>
        </p:nvSpPr>
        <p:spPr>
          <a:xfrm>
            <a:off x="7406640" y="411480"/>
            <a:ext cx="1280160" cy="365760"/>
          </a:xfrm>
          <a:prstGeom prst="roundRect">
            <a:avLst>
              <a:gd name="adj" fmla="val 50000"/>
            </a:avLst>
          </a:prstGeom>
          <a:solidFill>
            <a:srgbClr val="3B5BDB"/>
          </a:solidFill>
          <a:ln/>
        </p:spPr>
      </p:sp>
      <p:sp>
        <p:nvSpPr>
          <p:cNvPr id="4" name="TagText"/>
          <p:cNvSpPr txBox="1"/>
          <p:nvPr/>
        </p:nvSpPr>
        <p:spPr>
          <a:xfrm>
            <a:off x="7406640" y="411480"/>
            <a:ext cx="12801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Q3 · EC2 + RDS</a:t>
            </a:r>
            <a:endParaRPr lang="en-US" sz="1100" dirty="0"/>
          </a:p>
        </p:txBody>
      </p:sp>
      <p:sp>
        <p:nvSpPr>
          <p:cNvPr id="5" name="Shape 3"/>
          <p:cNvSpPr/>
          <p:nvPr/>
        </p:nvSpPr>
        <p:spPr>
          <a:xfrm>
            <a:off x="411480" y="1143000"/>
            <a:ext cx="3291840" cy="2525454"/>
          </a:xfrm>
          <a:prstGeom prst="rect">
            <a:avLst/>
          </a:prstGeom>
          <a:solidFill>
            <a:srgbClr val="FFFFFF"/>
          </a:solidFill>
          <a:ln w="12700">
            <a:solidFill>
              <a:srgbClr val="D9E2EC"/>
            </a:solidFill>
            <a:prstDash val="solid"/>
          </a:ln>
          <a:effectLst>
            <a:outerShdw sx="100000" sy="100000" kx="0" ky="0" algn="bl" rotWithShape="0" blurRad="101600" dist="25400" dir="5400000">
              <a:srgbClr val="000000">
                <a:alpha val="12000"/>
              </a:srgbClr>
            </a:outerShdw>
          </a:effectLst>
        </p:spPr>
      </p:sp>
      <p:pic>
        <p:nvPicPr>
          <p:cNvPr id="6" name="Image 0" descr="/home/claude/w/q3/ppt/media/image-9-1.png">    </p:cNvPr>
          <p:cNvPicPr>
            <a:picLocks noChangeAspect="1"/>
          </p:cNvPicPr>
          <p:nvPr/>
        </p:nvPicPr>
        <p:blipFill>
          <a:blip r:embed="rId1"/>
          <a:stretch>
            <a:fillRect/>
          </a:stretch>
        </p:blipFill>
        <p:spPr>
          <a:xfrm>
            <a:off x="457200" y="1188720"/>
            <a:ext cx="3200400" cy="2434014"/>
          </a:xfrm>
          <a:prstGeom prst="rect">
            <a:avLst/>
          </a:prstGeom>
        </p:spPr>
      </p:pic>
      <p:sp>
        <p:nvSpPr>
          <p:cNvPr id="7" name="Text 4"/>
          <p:cNvSpPr txBox="1"/>
          <p:nvPr/>
        </p:nvSpPr>
        <p:spPr>
          <a:xfrm>
            <a:off x="457200" y="3732462"/>
            <a:ext cx="3200400" cy="274320"/>
          </a:xfrm>
          <a:prstGeom prst="rect">
            <a:avLst/>
          </a:prstGeom>
          <a:noFill/>
          <a:ln/>
        </p:spPr>
        <p:txBody>
          <a:bodyPr wrap="square" lIns="0" tIns="0" rIns="0" bIns="0" rtlCol="0" anchor="ctr"/>
          <a:lstStyle/>
          <a:p>
            <a:pPr algn="ctr" indent="0" marL="0">
              <a:buNone/>
            </a:pPr>
            <a:r>
              <a:rPr lang="en-US" sz="1200" b="1" dirty="0">
                <a:solidFill>
                  <a:srgbClr val="5B6B7F"/>
                </a:solidFill>
                <a:latin typeface="Arial" pitchFamily="34" charset="0"/>
                <a:ea typeface="Arial" pitchFamily="34" charset="-122"/>
                <a:cs typeface="Arial" pitchFamily="34" charset="-120"/>
              </a:rPr>
              <a:t>web-sg SSH rule</a:t>
            </a:r>
            <a:endParaRPr lang="en-US" sz="1200" dirty="0"/>
          </a:p>
        </p:txBody>
      </p:sp>
      <p:sp>
        <p:nvSpPr>
          <p:cNvPr id="8" name="Shape 5"/>
          <p:cNvSpPr/>
          <p:nvPr/>
        </p:nvSpPr>
        <p:spPr>
          <a:xfrm>
            <a:off x="3886200" y="1143000"/>
            <a:ext cx="4846320" cy="1240536"/>
          </a:xfrm>
          <a:prstGeom prst="rect">
            <a:avLst/>
          </a:prstGeom>
          <a:solidFill>
            <a:srgbClr val="FFFFFF"/>
          </a:solidFill>
          <a:ln w="12700">
            <a:solidFill>
              <a:srgbClr val="D9E2EC"/>
            </a:solidFill>
            <a:prstDash val="solid"/>
          </a:ln>
          <a:effectLst>
            <a:outerShdw sx="100000" sy="100000" kx="0" ky="0" algn="bl" rotWithShape="0" blurRad="101600" dist="25400" dir="5400000">
              <a:srgbClr val="000000">
                <a:alpha val="12000"/>
              </a:srgbClr>
            </a:outerShdw>
          </a:effectLst>
        </p:spPr>
      </p:sp>
      <p:pic>
        <p:nvPicPr>
          <p:cNvPr id="9" name="Image 1" descr="/home/claude/w/q3/ppt/media/image-10-1.png">    </p:cNvPr>
          <p:cNvPicPr>
            <a:picLocks noChangeAspect="1"/>
          </p:cNvPicPr>
          <p:nvPr/>
        </p:nvPicPr>
        <p:blipFill>
          <a:blip r:embed="rId2"/>
          <a:stretch>
            <a:fillRect/>
          </a:stretch>
        </p:blipFill>
        <p:spPr>
          <a:xfrm>
            <a:off x="3931920" y="1188720"/>
            <a:ext cx="4754880" cy="1149096"/>
          </a:xfrm>
          <a:prstGeom prst="rect">
            <a:avLst/>
          </a:prstGeom>
        </p:spPr>
      </p:pic>
      <p:sp>
        <p:nvSpPr>
          <p:cNvPr id="10" name="Text 6"/>
          <p:cNvSpPr txBox="1"/>
          <p:nvPr/>
        </p:nvSpPr>
        <p:spPr>
          <a:xfrm>
            <a:off x="3931920" y="2447544"/>
            <a:ext cx="4754880" cy="274320"/>
          </a:xfrm>
          <a:prstGeom prst="rect">
            <a:avLst/>
          </a:prstGeom>
          <a:noFill/>
          <a:ln/>
        </p:spPr>
        <p:txBody>
          <a:bodyPr wrap="square" lIns="0" tIns="0" rIns="0" bIns="0" rtlCol="0" anchor="ctr"/>
          <a:lstStyle/>
          <a:p>
            <a:pPr algn="ctr" indent="0" marL="0">
              <a:buNone/>
            </a:pPr>
            <a:r>
              <a:rPr lang="en-US" sz="1200" b="1" dirty="0">
                <a:solidFill>
                  <a:srgbClr val="5B6B7F"/>
                </a:solidFill>
                <a:latin typeface="Arial" pitchFamily="34" charset="0"/>
                <a:ea typeface="Arial" pitchFamily="34" charset="-122"/>
                <a:cs typeface="Arial" pitchFamily="34" charset="-120"/>
              </a:rPr>
              <a:t>student-app service running</a:t>
            </a:r>
            <a:endParaRPr lang="en-US" sz="1200" dirty="0"/>
          </a:p>
        </p:txBody>
      </p:sp>
      <p:sp>
        <p:nvSpPr>
          <p:cNvPr id="11" name="Text 7"/>
          <p:cNvSpPr txBox="1"/>
          <p:nvPr/>
        </p:nvSpPr>
        <p:spPr>
          <a:xfrm>
            <a:off x="457200" y="4206240"/>
            <a:ext cx="8229600" cy="457200"/>
          </a:xfrm>
          <a:prstGeom prst="rect">
            <a:avLst/>
          </a:prstGeom>
          <a:noFill/>
          <a:ln/>
        </p:spPr>
        <p:txBody>
          <a:bodyPr wrap="square" lIns="0" tIns="0" rIns="0" bIns="0" rtlCol="0" anchor="t"/>
          <a:lstStyle/>
          <a:p>
            <a:pPr indent="0" marL="0">
              <a:buNone/>
            </a:pPr>
            <a:r>
              <a:rPr lang="en-US" sz="1400" dirty="0">
                <a:solidFill>
                  <a:srgbClr val="33445A"/>
                </a:solidFill>
                <a:latin typeface="Arial" pitchFamily="34" charset="0"/>
                <a:ea typeface="Arial" pitchFamily="34" charset="-122"/>
                <a:cs typeface="Arial" pitchFamily="34" charset="-120"/>
              </a:rPr>
              <a:t>SSH is limited to one IP, and the Flask app runs as a systemd service.</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latin typeface="Arial"/>
                <a:ea typeface="Arial"/>
                <a:cs typeface="Aria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itle"/>
          <p:cNvSpPr txBox="1"/>
          <p:nvPr/>
        </p:nvSpPr>
        <p:spPr>
          <a:xfrm>
            <a:off x="457200" y="320040"/>
            <a:ext cx="6766560" cy="548640"/>
          </a:xfrm>
          <a:prstGeom prst="rect">
            <a:avLst/>
          </a:prstGeom>
          <a:noFill/>
          <a:ln/>
        </p:spPr>
        <p:txBody>
          <a:bodyPr wrap="square" lIns="0" tIns="0" rIns="0" bIns="0" rtlCol="0" anchor="ctr"/>
          <a:lstStyle/>
          <a:p>
            <a:pPr indent="0" marL="0">
              <a:buNone/>
            </a:pPr>
            <a:r>
              <a:rPr lang="en-US" sz="3000" b="1" dirty="0">
                <a:solidFill>
                  <a:srgbClr val="1B2A3F"/>
                </a:solidFill>
                <a:latin typeface="Arial" pitchFamily="34" charset="0"/>
                <a:ea typeface="Arial" pitchFamily="34" charset="-122"/>
                <a:cs typeface="Arial" pitchFamily="34" charset="-120"/>
              </a:rPr>
              <a:t>Insertion and retrieval in the web page</a:t>
            </a:r>
            <a:endParaRPr lang="en-US" sz="3000" dirty="0"/>
          </a:p>
        </p:txBody>
      </p:sp>
      <p:sp>
        <p:nvSpPr>
          <p:cNvPr id="3" name="Tag"/>
          <p:cNvSpPr/>
          <p:nvPr/>
        </p:nvSpPr>
        <p:spPr>
          <a:xfrm>
            <a:off x="7406640" y="411480"/>
            <a:ext cx="1280160" cy="365760"/>
          </a:xfrm>
          <a:prstGeom prst="roundRect">
            <a:avLst>
              <a:gd name="adj" fmla="val 50000"/>
            </a:avLst>
          </a:prstGeom>
          <a:solidFill>
            <a:srgbClr val="3B5BDB"/>
          </a:solidFill>
          <a:ln/>
        </p:spPr>
      </p:sp>
      <p:sp>
        <p:nvSpPr>
          <p:cNvPr id="4" name="TagText"/>
          <p:cNvSpPr txBox="1"/>
          <p:nvPr/>
        </p:nvSpPr>
        <p:spPr>
          <a:xfrm>
            <a:off x="7406640" y="411480"/>
            <a:ext cx="12801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Q3 · EC2 + RDS</a:t>
            </a:r>
            <a:endParaRPr lang="en-US" sz="1100" dirty="0"/>
          </a:p>
        </p:txBody>
      </p:sp>
      <p:sp>
        <p:nvSpPr>
          <p:cNvPr id="5" name="Shape 3"/>
          <p:cNvSpPr/>
          <p:nvPr/>
        </p:nvSpPr>
        <p:spPr>
          <a:xfrm>
            <a:off x="411480" y="1143000"/>
            <a:ext cx="4069080" cy="2102115"/>
          </a:xfrm>
          <a:prstGeom prst="rect">
            <a:avLst/>
          </a:prstGeom>
          <a:solidFill>
            <a:srgbClr val="FFFFFF"/>
          </a:solidFill>
          <a:ln w="12700">
            <a:solidFill>
              <a:srgbClr val="D9E2EC"/>
            </a:solidFill>
            <a:prstDash val="solid"/>
          </a:ln>
          <a:effectLst>
            <a:outerShdw sx="100000" sy="100000" kx="0" ky="0" algn="bl" rotWithShape="0" blurRad="101600" dist="25400" dir="5400000">
              <a:srgbClr val="000000">
                <a:alpha val="12000"/>
              </a:srgbClr>
            </a:outerShdw>
          </a:effectLst>
        </p:spPr>
      </p:sp>
      <p:pic>
        <p:nvPicPr>
          <p:cNvPr id="6" name="Image 0" descr="/home/claude/w/q3/ppt/media/image-11-1.png">    </p:cNvPr>
          <p:cNvPicPr>
            <a:picLocks noChangeAspect="1"/>
          </p:cNvPicPr>
          <p:nvPr/>
        </p:nvPicPr>
        <p:blipFill>
          <a:blip r:embed="rId1"/>
          <a:stretch>
            <a:fillRect/>
          </a:stretch>
        </p:blipFill>
        <p:spPr>
          <a:xfrm>
            <a:off x="457200" y="1188720"/>
            <a:ext cx="3977640" cy="2010675"/>
          </a:xfrm>
          <a:prstGeom prst="rect">
            <a:avLst/>
          </a:prstGeom>
        </p:spPr>
      </p:pic>
      <p:sp>
        <p:nvSpPr>
          <p:cNvPr id="7" name="Text 4"/>
          <p:cNvSpPr txBox="1"/>
          <p:nvPr/>
        </p:nvSpPr>
        <p:spPr>
          <a:xfrm>
            <a:off x="457200" y="3309123"/>
            <a:ext cx="3977640" cy="274320"/>
          </a:xfrm>
          <a:prstGeom prst="rect">
            <a:avLst/>
          </a:prstGeom>
          <a:noFill/>
          <a:ln/>
        </p:spPr>
        <p:txBody>
          <a:bodyPr wrap="square" lIns="0" tIns="0" rIns="0" bIns="0" rtlCol="0" anchor="ctr"/>
          <a:lstStyle/>
          <a:p>
            <a:pPr algn="ctr" indent="0" marL="0">
              <a:buNone/>
            </a:pPr>
            <a:r>
              <a:rPr lang="en-US" sz="1200" b="1" dirty="0">
                <a:solidFill>
                  <a:srgbClr val="5B6B7F"/>
                </a:solidFill>
                <a:latin typeface="Arial" pitchFamily="34" charset="0"/>
                <a:ea typeface="Arial" pitchFamily="34" charset="-122"/>
                <a:cs typeface="Arial" pitchFamily="34" charset="-120"/>
              </a:rPr>
              <a:t>Registration form</a:t>
            </a:r>
            <a:endParaRPr lang="en-US" sz="1200" dirty="0"/>
          </a:p>
        </p:txBody>
      </p:sp>
      <p:sp>
        <p:nvSpPr>
          <p:cNvPr id="8" name="Shape 5"/>
          <p:cNvSpPr/>
          <p:nvPr/>
        </p:nvSpPr>
        <p:spPr>
          <a:xfrm>
            <a:off x="4663440" y="1143000"/>
            <a:ext cx="4069080" cy="2098008"/>
          </a:xfrm>
          <a:prstGeom prst="rect">
            <a:avLst/>
          </a:prstGeom>
          <a:solidFill>
            <a:srgbClr val="FFFFFF"/>
          </a:solidFill>
          <a:ln w="12700">
            <a:solidFill>
              <a:srgbClr val="D9E2EC"/>
            </a:solidFill>
            <a:prstDash val="solid"/>
          </a:ln>
          <a:effectLst>
            <a:outerShdw sx="100000" sy="100000" kx="0" ky="0" algn="bl" rotWithShape="0" blurRad="101600" dist="25400" dir="5400000">
              <a:srgbClr val="000000">
                <a:alpha val="12000"/>
              </a:srgbClr>
            </a:outerShdw>
          </a:effectLst>
        </p:spPr>
      </p:sp>
      <p:pic>
        <p:nvPicPr>
          <p:cNvPr id="9" name="Image 1" descr="/home/claude/w/q3/ppt/media/image-12-1.png">    </p:cNvPr>
          <p:cNvPicPr>
            <a:picLocks noChangeAspect="1"/>
          </p:cNvPicPr>
          <p:nvPr/>
        </p:nvPicPr>
        <p:blipFill>
          <a:blip r:embed="rId2"/>
          <a:stretch>
            <a:fillRect/>
          </a:stretch>
        </p:blipFill>
        <p:spPr>
          <a:xfrm>
            <a:off x="4709160" y="1188720"/>
            <a:ext cx="3977640" cy="2006568"/>
          </a:xfrm>
          <a:prstGeom prst="rect">
            <a:avLst/>
          </a:prstGeom>
        </p:spPr>
      </p:pic>
      <p:sp>
        <p:nvSpPr>
          <p:cNvPr id="10" name="Text 6"/>
          <p:cNvSpPr txBox="1"/>
          <p:nvPr/>
        </p:nvSpPr>
        <p:spPr>
          <a:xfrm>
            <a:off x="4709160" y="3305016"/>
            <a:ext cx="3977640" cy="274320"/>
          </a:xfrm>
          <a:prstGeom prst="rect">
            <a:avLst/>
          </a:prstGeom>
          <a:noFill/>
          <a:ln/>
        </p:spPr>
        <p:txBody>
          <a:bodyPr wrap="square" lIns="0" tIns="0" rIns="0" bIns="0" rtlCol="0" anchor="ctr"/>
          <a:lstStyle/>
          <a:p>
            <a:pPr algn="ctr" indent="0" marL="0">
              <a:buNone/>
            </a:pPr>
            <a:r>
              <a:rPr lang="en-US" sz="1200" b="1" dirty="0">
                <a:solidFill>
                  <a:srgbClr val="5B6B7F"/>
                </a:solidFill>
                <a:latin typeface="Arial" pitchFamily="34" charset="0"/>
                <a:ea typeface="Arial" pitchFamily="34" charset="-122"/>
                <a:cs typeface="Arial" pitchFamily="34" charset="-120"/>
              </a:rPr>
              <a:t>Registered students table</a:t>
            </a:r>
            <a:endParaRPr lang="en-US" sz="1200" dirty="0"/>
          </a:p>
        </p:txBody>
      </p:sp>
      <p:sp>
        <p:nvSpPr>
          <p:cNvPr id="11" name="Text 7"/>
          <p:cNvSpPr txBox="1"/>
          <p:nvPr/>
        </p:nvSpPr>
        <p:spPr>
          <a:xfrm>
            <a:off x="457200" y="4023360"/>
            <a:ext cx="8229600" cy="457200"/>
          </a:xfrm>
          <a:prstGeom prst="rect">
            <a:avLst/>
          </a:prstGeom>
          <a:noFill/>
          <a:ln/>
        </p:spPr>
        <p:txBody>
          <a:bodyPr wrap="square" lIns="0" tIns="0" rIns="0" bIns="0" rtlCol="0" anchor="t"/>
          <a:lstStyle/>
          <a:p>
            <a:pPr indent="0" marL="0">
              <a:buNone/>
            </a:pPr>
            <a:r>
              <a:rPr lang="en-US" sz="1400" dirty="0">
                <a:solidFill>
                  <a:srgbClr val="33445A"/>
                </a:solidFill>
                <a:latin typeface="Arial" pitchFamily="34" charset="0"/>
                <a:ea typeface="Arial" pitchFamily="34" charset="-122"/>
                <a:cs typeface="Arial" pitchFamily="34" charset="-120"/>
              </a:rPr>
              <a:t>Submitted records are saved to RDS and listed back in the table.</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latin typeface="Arial"/>
                <a:ea typeface="Arial"/>
                <a:cs typeface="Aria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itle"/>
          <p:cNvSpPr txBox="1"/>
          <p:nvPr/>
        </p:nvSpPr>
        <p:spPr>
          <a:xfrm>
            <a:off x="457200" y="320040"/>
            <a:ext cx="6766560" cy="548640"/>
          </a:xfrm>
          <a:prstGeom prst="rect">
            <a:avLst/>
          </a:prstGeom>
          <a:noFill/>
          <a:ln/>
        </p:spPr>
        <p:txBody>
          <a:bodyPr wrap="square" lIns="0" tIns="0" rIns="0" bIns="0" rtlCol="0" anchor="ctr"/>
          <a:lstStyle/>
          <a:p>
            <a:pPr indent="0" marL="0">
              <a:buNone/>
            </a:pPr>
            <a:r>
              <a:rPr lang="en-US" sz="3000" b="1" dirty="0">
                <a:solidFill>
                  <a:srgbClr val="1B2A3F"/>
                </a:solidFill>
                <a:latin typeface="Arial" pitchFamily="34" charset="0"/>
                <a:ea typeface="Arial" pitchFamily="34" charset="-122"/>
                <a:cs typeface="Arial" pitchFamily="34" charset="-120"/>
              </a:rPr>
              <a:t>Data read from RDS on EC2</a:t>
            </a:r>
            <a:endParaRPr lang="en-US" sz="3000" dirty="0"/>
          </a:p>
        </p:txBody>
      </p:sp>
      <p:sp>
        <p:nvSpPr>
          <p:cNvPr id="3" name="Tag"/>
          <p:cNvSpPr/>
          <p:nvPr/>
        </p:nvSpPr>
        <p:spPr>
          <a:xfrm>
            <a:off x="7406640" y="411480"/>
            <a:ext cx="1280160" cy="365760"/>
          </a:xfrm>
          <a:prstGeom prst="roundRect">
            <a:avLst>
              <a:gd name="adj" fmla="val 50000"/>
            </a:avLst>
          </a:prstGeom>
          <a:solidFill>
            <a:srgbClr val="3B5BDB"/>
          </a:solidFill>
          <a:ln/>
        </p:spPr>
      </p:sp>
      <p:sp>
        <p:nvSpPr>
          <p:cNvPr id="4" name="TagText"/>
          <p:cNvSpPr txBox="1"/>
          <p:nvPr/>
        </p:nvSpPr>
        <p:spPr>
          <a:xfrm>
            <a:off x="7406640" y="411480"/>
            <a:ext cx="12801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Q3 · EC2 + RDS</a:t>
            </a:r>
            <a:endParaRPr lang="en-US" sz="1100" dirty="0"/>
          </a:p>
        </p:txBody>
      </p:sp>
      <p:sp>
        <p:nvSpPr>
          <p:cNvPr id="5" name="Shape 3"/>
          <p:cNvSpPr/>
          <p:nvPr/>
        </p:nvSpPr>
        <p:spPr>
          <a:xfrm>
            <a:off x="411480" y="1051560"/>
            <a:ext cx="5029200" cy="2973696"/>
          </a:xfrm>
          <a:prstGeom prst="rect">
            <a:avLst/>
          </a:prstGeom>
          <a:solidFill>
            <a:srgbClr val="FFFFFF"/>
          </a:solidFill>
          <a:ln w="12700">
            <a:solidFill>
              <a:srgbClr val="D9E2EC"/>
            </a:solidFill>
            <a:prstDash val="solid"/>
          </a:ln>
          <a:effectLst>
            <a:outerShdw sx="100000" sy="100000" kx="0" ky="0" algn="bl" rotWithShape="0" blurRad="101600" dist="25400" dir="5400000">
              <a:srgbClr val="000000">
                <a:alpha val="12000"/>
              </a:srgbClr>
            </a:outerShdw>
          </a:effectLst>
        </p:spPr>
      </p:sp>
      <p:pic>
        <p:nvPicPr>
          <p:cNvPr id="6" name="Image 0" descr="/home/claude/w/q3/ppt/media/image-13-1.png">    </p:cNvPr>
          <p:cNvPicPr>
            <a:picLocks noChangeAspect="1"/>
          </p:cNvPicPr>
          <p:nvPr/>
        </p:nvPicPr>
        <p:blipFill>
          <a:blip r:embed="rId1"/>
          <a:stretch>
            <a:fillRect/>
          </a:stretch>
        </p:blipFill>
        <p:spPr>
          <a:xfrm>
            <a:off x="457200" y="1097280"/>
            <a:ext cx="4937760" cy="2882256"/>
          </a:xfrm>
          <a:prstGeom prst="rect">
            <a:avLst/>
          </a:prstGeom>
        </p:spPr>
      </p:pic>
      <p:sp>
        <p:nvSpPr>
          <p:cNvPr id="7" name="Text 4"/>
          <p:cNvSpPr txBox="1"/>
          <p:nvPr/>
        </p:nvSpPr>
        <p:spPr>
          <a:xfrm>
            <a:off x="5669280" y="1371600"/>
            <a:ext cx="3017520" cy="365760"/>
          </a:xfrm>
          <a:prstGeom prst="rect">
            <a:avLst/>
          </a:prstGeom>
          <a:noFill/>
          <a:ln/>
        </p:spPr>
        <p:txBody>
          <a:bodyPr wrap="square" lIns="0" tIns="0" rIns="0" bIns="0" rtlCol="0" anchor="ctr"/>
          <a:lstStyle/>
          <a:p>
            <a:pPr indent="0" marL="0">
              <a:buNone/>
            </a:pPr>
            <a:r>
              <a:rPr lang="en-US" sz="1600" b="1" dirty="0">
                <a:solidFill>
                  <a:srgbClr val="3B5BDB"/>
                </a:solidFill>
                <a:latin typeface="Arial" pitchFamily="34" charset="0"/>
                <a:ea typeface="Arial" pitchFamily="34" charset="-122"/>
                <a:cs typeface="Arial" pitchFamily="34" charset="-120"/>
              </a:rPr>
              <a:t>SELECT * FROM students</a:t>
            </a:r>
            <a:endParaRPr lang="en-US" sz="1600" dirty="0"/>
          </a:p>
        </p:txBody>
      </p:sp>
      <p:sp>
        <p:nvSpPr>
          <p:cNvPr id="8" name="Text 5"/>
          <p:cNvSpPr txBox="1"/>
          <p:nvPr/>
        </p:nvSpPr>
        <p:spPr>
          <a:xfrm>
            <a:off x="5669280" y="1828800"/>
            <a:ext cx="3017520" cy="1645920"/>
          </a:xfrm>
          <a:prstGeom prst="rect">
            <a:avLst/>
          </a:prstGeom>
          <a:noFill/>
          <a:ln/>
        </p:spPr>
        <p:txBody>
          <a:bodyPr wrap="square" lIns="0" tIns="0" rIns="0" bIns="0" rtlCol="0" anchor="t"/>
          <a:lstStyle/>
          <a:p>
            <a:pPr indent="0" marL="0">
              <a:buNone/>
            </a:pPr>
            <a:r>
              <a:rPr lang="en-US" sz="1400" dirty="0">
                <a:solidFill>
                  <a:srgbClr val="33445A"/>
                </a:solidFill>
                <a:latin typeface="Arial" pitchFamily="34" charset="0"/>
                <a:ea typeface="Arial" pitchFamily="34" charset="-122"/>
                <a:cs typeface="Arial" pitchFamily="34" charset="-120"/>
              </a:rPr>
              <a:t>Run from the EC2 prompt, it returns the same 3 rows the web page shows, proving the data is stored in RDS.</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latin typeface="Arial"/>
                <a:ea typeface="Arial"/>
                <a:cs typeface="Aria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itle"/>
          <p:cNvSpPr txBox="1"/>
          <p:nvPr/>
        </p:nvSpPr>
        <p:spPr>
          <a:xfrm>
            <a:off x="457200" y="320040"/>
            <a:ext cx="6766560" cy="548640"/>
          </a:xfrm>
          <a:prstGeom prst="rect">
            <a:avLst/>
          </a:prstGeom>
          <a:noFill/>
          <a:ln/>
        </p:spPr>
        <p:txBody>
          <a:bodyPr wrap="square" lIns="0" tIns="0" rIns="0" bIns="0" rtlCol="0" anchor="ctr"/>
          <a:lstStyle/>
          <a:p>
            <a:pPr indent="0" marL="0">
              <a:buNone/>
            </a:pPr>
            <a:r>
              <a:rPr lang="en-US" sz="3000" b="1" dirty="0">
                <a:solidFill>
                  <a:srgbClr val="1B2A3F"/>
                </a:solidFill>
                <a:latin typeface="Arial" pitchFamily="34" charset="0"/>
                <a:ea typeface="Arial" pitchFamily="34" charset="-122"/>
                <a:cs typeface="Arial" pitchFamily="34" charset="-120"/>
              </a:rPr>
              <a:t>Testing results</a:t>
            </a:r>
            <a:endParaRPr lang="en-US" sz="3000" dirty="0"/>
          </a:p>
        </p:txBody>
      </p:sp>
      <p:sp>
        <p:nvSpPr>
          <p:cNvPr id="3" name="Tag"/>
          <p:cNvSpPr/>
          <p:nvPr/>
        </p:nvSpPr>
        <p:spPr>
          <a:xfrm>
            <a:off x="7406640" y="411480"/>
            <a:ext cx="1280160" cy="365760"/>
          </a:xfrm>
          <a:prstGeom prst="roundRect">
            <a:avLst>
              <a:gd name="adj" fmla="val 50000"/>
            </a:avLst>
          </a:prstGeom>
          <a:solidFill>
            <a:srgbClr val="3B5BDB"/>
          </a:solidFill>
          <a:ln/>
        </p:spPr>
      </p:sp>
      <p:sp>
        <p:nvSpPr>
          <p:cNvPr id="4" name="TagText"/>
          <p:cNvSpPr txBox="1"/>
          <p:nvPr/>
        </p:nvSpPr>
        <p:spPr>
          <a:xfrm>
            <a:off x="7406640" y="411480"/>
            <a:ext cx="12801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Q3 · EC2 + RDS</a:t>
            </a:r>
            <a:endParaRPr lang="en-US" sz="1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3657600"/>
                <a:gridCol w="4572000"/>
              </a:tblGrid>
              <a:tr h="0">
                <a:tc>
                  <a:txBody>
                    <a:bodyPr/>
                    <a:lstStyle/>
                    <a:p>
                      <a:pPr indent="0" marL="0">
                        <a:buNone/>
                      </a:pPr>
                      <a:r>
                        <a:rPr lang="en-US" sz="1400" b="1" dirty="0">
                          <a:solidFill>
                            <a:srgbClr val="FFFFFF"/>
                          </a:solidFill>
                          <a:latin typeface="Arial" pitchFamily="34" charset="0"/>
                          <a:ea typeface="Arial" pitchFamily="34" charset="-122"/>
                          <a:cs typeface="Arial" pitchFamily="34" charset="-120"/>
                        </a:rPr>
                        <a:t>Test</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3B5BDB"/>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Result</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3B5BDB"/>
                    </a:solidFill>
                  </a:tcPr>
                </a:tc>
              </a:tr>
              <a:tr h="0">
                <a:tc>
                  <a:txBody>
                    <a:bodyPr/>
                    <a:lstStyle/>
                    <a:p>
                      <a:pPr indent="0" marL="0">
                        <a:buNone/>
                      </a:pPr>
                      <a:r>
                        <a:rPr lang="en-US" sz="1400" dirty="0">
                          <a:solidFill>
                            <a:srgbClr val="1B2A3F"/>
                          </a:solidFill>
                          <a:latin typeface="Arial" pitchFamily="34" charset="0"/>
                          <a:ea typeface="Arial" pitchFamily="34" charset="-122"/>
                          <a:cs typeface="Arial" pitchFamily="34" charset="-120"/>
                        </a:rPr>
                        <a:t>Open EC2 public IP over HTTP</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1F4F8"/>
                    </a:solidFill>
                  </a:tcPr>
                </a:tc>
                <a:tc>
                  <a:txBody>
                    <a:bodyPr/>
                    <a:lstStyle/>
                    <a:p>
                      <a:pPr indent="0" marL="0">
                        <a:buNone/>
                      </a:pPr>
                      <a:r>
                        <a:rPr lang="en-US" sz="1400" dirty="0">
                          <a:solidFill>
                            <a:srgbClr val="1B2A3F"/>
                          </a:solidFill>
                          <a:latin typeface="Arial" pitchFamily="34" charset="0"/>
                          <a:ea typeface="Arial" pitchFamily="34" charset="-122"/>
                          <a:cs typeface="Arial" pitchFamily="34" charset="-120"/>
                        </a:rPr>
                        <a:t>Form and empty table loaded</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1F4F8"/>
                    </a:solidFill>
                  </a:tcPr>
                </a:tc>
              </a:tr>
              <a:tr h="0">
                <a:tc>
                  <a:txBody>
                    <a:bodyPr/>
                    <a:lstStyle/>
                    <a:p>
                      <a:pPr indent="0" marL="0">
                        <a:buNone/>
                      </a:pPr>
                      <a:r>
                        <a:rPr lang="en-US" sz="1400" dirty="0">
                          <a:solidFill>
                            <a:srgbClr val="1B2A3F"/>
                          </a:solidFill>
                          <a:latin typeface="Arial" pitchFamily="34" charset="0"/>
                          <a:ea typeface="Arial" pitchFamily="34" charset="-122"/>
                          <a:cs typeface="Arial" pitchFamily="34" charset="-120"/>
                        </a:rPr>
                        <a:t>Register 3 students</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B2A3F"/>
                          </a:solidFill>
                          <a:latin typeface="Arial" pitchFamily="34" charset="0"/>
                          <a:ea typeface="Arial" pitchFamily="34" charset="-122"/>
                          <a:cs typeface="Arial" pitchFamily="34" charset="-120"/>
                        </a:rPr>
                        <a:t>Each record saved and listed in the table</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2A3F"/>
                          </a:solidFill>
                          <a:latin typeface="Arial" pitchFamily="34" charset="0"/>
                          <a:ea typeface="Arial" pitchFamily="34" charset="-122"/>
                          <a:cs typeface="Arial" pitchFamily="34" charset="-120"/>
                        </a:rPr>
                        <a:t>Reload the page</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1F4F8"/>
                    </a:solidFill>
                  </a:tcPr>
                </a:tc>
                <a:tc>
                  <a:txBody>
                    <a:bodyPr/>
                    <a:lstStyle/>
                    <a:p>
                      <a:pPr indent="0" marL="0">
                        <a:buNone/>
                      </a:pPr>
                      <a:r>
                        <a:rPr lang="en-US" sz="1400" dirty="0">
                          <a:solidFill>
                            <a:srgbClr val="1B2A3F"/>
                          </a:solidFill>
                          <a:latin typeface="Arial" pitchFamily="34" charset="0"/>
                          <a:ea typeface="Arial" pitchFamily="34" charset="-122"/>
                          <a:cs typeface="Arial" pitchFamily="34" charset="-120"/>
                        </a:rPr>
                        <a:t>All 3 records returned from RDS</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1F4F8"/>
                    </a:solidFill>
                  </a:tcPr>
                </a:tc>
              </a:tr>
              <a:tr h="0">
                <a:tc>
                  <a:txBody>
                    <a:bodyPr/>
                    <a:lstStyle/>
                    <a:p>
                      <a:pPr indent="0" marL="0">
                        <a:buNone/>
                      </a:pPr>
                      <a:r>
                        <a:rPr lang="en-US" sz="1400" dirty="0">
                          <a:solidFill>
                            <a:srgbClr val="1B2A3F"/>
                          </a:solidFill>
                          <a:latin typeface="Arial" pitchFamily="34" charset="0"/>
                          <a:ea typeface="Arial" pitchFamily="34" charset="-122"/>
                          <a:cs typeface="Arial" pitchFamily="34" charset="-120"/>
                        </a:rPr>
                        <a:t>SELECT * FROM students on EC2</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B2A3F"/>
                          </a:solidFill>
                          <a:latin typeface="Arial" pitchFamily="34" charset="0"/>
                          <a:ea typeface="Arial" pitchFamily="34" charset="-122"/>
                          <a:cs typeface="Arial" pitchFamily="34" charset="-120"/>
                        </a:rPr>
                        <a:t>Same 3 rows read from the database</a:t>
                      </a:r>
                      <a:endParaRPr lang="en-US" sz="1400" dirty="0">
                        <a:latin typeface="Arial" charset="0"/>
                        <a:ea typeface="Arial" charset="0"/>
                        <a:cs typeface="Arial" charset="0"/>
                      </a:endParaRPr>
                    </a:p>
                  </a:txBody>
                  <a:tcPr marL="109728" marR="109728" marT="73152" marB="73152" anchor="ct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latin typeface="Arial"/>
                <a:ea typeface="Arial"/>
                <a:cs typeface="Aria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411480"/>
            <a:ext cx="7315200" cy="64008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Conclusion</a:t>
            </a:r>
            <a:endParaRPr lang="en-US" sz="3400" dirty="0"/>
          </a:p>
        </p:txBody>
      </p:sp>
      <p:sp>
        <p:nvSpPr>
          <p:cNvPr id="3" name="Shape 1"/>
          <p:cNvSpPr/>
          <p:nvPr/>
        </p:nvSpPr>
        <p:spPr>
          <a:xfrm>
            <a:off x="548640" y="1371600"/>
            <a:ext cx="731520" cy="731520"/>
          </a:xfrm>
          <a:prstGeom prst="ellipse">
            <a:avLst/>
          </a:prstGeom>
          <a:solidFill>
            <a:srgbClr val="FF9900"/>
          </a:solidFill>
          <a:ln/>
        </p:spPr>
      </p:sp>
      <p:sp>
        <p:nvSpPr>
          <p:cNvPr id="4" name="Text 2"/>
          <p:cNvSpPr txBox="1"/>
          <p:nvPr/>
        </p:nvSpPr>
        <p:spPr>
          <a:xfrm>
            <a:off x="548640" y="1371600"/>
            <a:ext cx="731520" cy="731520"/>
          </a:xfrm>
          <a:prstGeom prst="rect">
            <a:avLst/>
          </a:prstGeom>
          <a:noFill/>
          <a:ln/>
        </p:spPr>
        <p:txBody>
          <a:bodyPr wrap="square" lIns="0" tIns="0" rIns="0" bIns="0"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Q1</a:t>
            </a:r>
            <a:endParaRPr lang="en-US" sz="1800" dirty="0"/>
          </a:p>
        </p:txBody>
      </p:sp>
      <p:sp>
        <p:nvSpPr>
          <p:cNvPr id="5" name="Text 3"/>
          <p:cNvSpPr txBox="1"/>
          <p:nvPr/>
        </p:nvSpPr>
        <p:spPr>
          <a:xfrm>
            <a:off x="1554480" y="1371600"/>
            <a:ext cx="7040880" cy="731520"/>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S3 hosts a full website with just a bucket, three files and a public-read policy.</a:t>
            </a:r>
            <a:endParaRPr lang="en-US" sz="1800" dirty="0"/>
          </a:p>
        </p:txBody>
      </p:sp>
      <p:sp>
        <p:nvSpPr>
          <p:cNvPr id="6" name="Shape 4"/>
          <p:cNvSpPr/>
          <p:nvPr/>
        </p:nvSpPr>
        <p:spPr>
          <a:xfrm>
            <a:off x="548640" y="2377440"/>
            <a:ext cx="731520" cy="731520"/>
          </a:xfrm>
          <a:prstGeom prst="ellipse">
            <a:avLst/>
          </a:prstGeom>
          <a:solidFill>
            <a:srgbClr val="0E7C7B"/>
          </a:solidFill>
          <a:ln/>
        </p:spPr>
      </p:sp>
      <p:sp>
        <p:nvSpPr>
          <p:cNvPr id="7" name="Text 5"/>
          <p:cNvSpPr txBox="1"/>
          <p:nvPr/>
        </p:nvSpPr>
        <p:spPr>
          <a:xfrm>
            <a:off x="548640" y="2377440"/>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Q2</a:t>
            </a:r>
            <a:endParaRPr lang="en-US" sz="1800" dirty="0"/>
          </a:p>
        </p:txBody>
      </p:sp>
      <p:sp>
        <p:nvSpPr>
          <p:cNvPr id="8" name="Text 6"/>
          <p:cNvSpPr txBox="1"/>
          <p:nvPr/>
        </p:nvSpPr>
        <p:spPr>
          <a:xfrm>
            <a:off x="1554480" y="2377440"/>
            <a:ext cx="7040880" cy="731520"/>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A custom VPC with an IGW, route table and security group serves a page from EC2.</a:t>
            </a:r>
            <a:endParaRPr lang="en-US" sz="1800" dirty="0"/>
          </a:p>
        </p:txBody>
      </p:sp>
      <p:sp>
        <p:nvSpPr>
          <p:cNvPr id="9" name="Shape 7"/>
          <p:cNvSpPr/>
          <p:nvPr/>
        </p:nvSpPr>
        <p:spPr>
          <a:xfrm>
            <a:off x="548640" y="3383280"/>
            <a:ext cx="731520" cy="731520"/>
          </a:xfrm>
          <a:prstGeom prst="ellipse">
            <a:avLst/>
          </a:prstGeom>
          <a:solidFill>
            <a:srgbClr val="3B5BDB"/>
          </a:solidFill>
          <a:ln/>
        </p:spPr>
      </p:sp>
      <p:sp>
        <p:nvSpPr>
          <p:cNvPr id="10" name="Text 8"/>
          <p:cNvSpPr txBox="1"/>
          <p:nvPr/>
        </p:nvSpPr>
        <p:spPr>
          <a:xfrm>
            <a:off x="548640" y="3383280"/>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Q3</a:t>
            </a:r>
            <a:endParaRPr lang="en-US" sz="1800" dirty="0"/>
          </a:p>
        </p:txBody>
      </p:sp>
      <p:sp>
        <p:nvSpPr>
          <p:cNvPr id="11" name="Text 9"/>
          <p:cNvSpPr txBox="1"/>
          <p:nvPr/>
        </p:nvSpPr>
        <p:spPr>
          <a:xfrm>
            <a:off x="1554480" y="3383280"/>
            <a:ext cx="7040880" cy="731520"/>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EC2 stores and retrieves records in a private RDS MySQL database reachable only via web-sg.</a:t>
            </a:r>
            <a:endParaRPr lang="en-US" sz="1800" dirty="0"/>
          </a:p>
        </p:txBody>
      </p:sp>
      <p:sp>
        <p:nvSpPr>
          <p:cNvPr id="12" name="Text 10"/>
          <p:cNvSpPr txBox="1"/>
          <p:nvPr/>
        </p:nvSpPr>
        <p:spPr>
          <a:xfrm>
            <a:off x="548640" y="4389120"/>
            <a:ext cx="7315200" cy="457200"/>
          </a:xfrm>
          <a:prstGeom prst="rect">
            <a:avLst/>
          </a:prstGeom>
          <a:noFill/>
          <a:ln/>
        </p:spPr>
        <p:txBody>
          <a:bodyPr wrap="square" lIns="0" tIns="0" rIns="0" bIns="0" rtlCol="0" anchor="ctr"/>
          <a:lstStyle/>
          <a:p>
            <a:pPr indent="0" marL="0">
              <a:buNone/>
            </a:pPr>
            <a:r>
              <a:rPr lang="en-US" sz="2000" b="1" dirty="0">
                <a:solidFill>
                  <a:srgbClr val="FF9900"/>
                </a:solidFill>
                <a:latin typeface="Arial" pitchFamily="34" charset="0"/>
                <a:ea typeface="Arial" pitchFamily="34" charset="-122"/>
                <a:cs typeface="Arial" pitchFamily="34" charset="-120"/>
              </a:rPr>
              <a:t>Thank you</a:t>
            </a:r>
            <a:endParaRPr lang="en-US" sz="2000" dirty="0"/>
          </a:p>
        </p:txBody>
      </p:sp>
    </p:spTree>
  </p:cSld>
  <p:clrMapOvr>
    <a:masterClrMapping/>
  </p:clrMapOvr>
</p:sld>
</file>

<file path=ppt/theme/theme1.xml><?xml version="1.0" encoding="utf-8"?>
<a:theme xmlns:a="http://schemas.openxmlformats.org/drawingml/2006/main" name="AWS Projects">
  <a:themeElements>
    <a:clrScheme name="AWS Projects">
      <a:dk1>
        <a:srgbClr val="1B2A3F"/>
      </a:dk1>
      <a:lt1>
        <a:srgbClr val="FFFFFF"/>
      </a:lt1>
      <a:dk2>
        <a:srgbClr val="0F1B2D"/>
      </a:dk2>
      <a:lt2>
        <a:srgbClr val="F1F4F8"/>
      </a:lt2>
      <a:accent1>
        <a:srgbClr val="FF9900"/>
      </a:accent1>
      <a:accent2>
        <a:srgbClr val="0E7C7B"/>
      </a:accent2>
      <a:accent3>
        <a:srgbClr val="3B5BDB"/>
      </a:accent3>
      <a:accent4>
        <a:srgbClr val="5B6B7F"/>
      </a:accent4>
      <a:accent5>
        <a:srgbClr val="D9E2EC"/>
      </a:accent5>
      <a:accent6>
        <a:srgbClr val="E8590C"/>
      </a:accent6>
      <a:hlink>
        <a:srgbClr val="3B5BDB"/>
      </a:hlink>
      <a:folHlink>
        <a:srgbClr val="5B6B7F"/>
      </a:folHlink>
    </a:clrScheme>
    <a:fontScheme name="AWS Project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 Project Assignment - Set 1</dc:title>
  <dc:subject>PptxGenJS Presentation</dc:subject>
  <dc:creator>PptxGenJS</dc:creator>
  <cp:lastModifiedBy>PptxGenJS</cp:lastModifiedBy>
  <cp:revision>1</cp:revision>
  <dcterms:created xsi:type="dcterms:W3CDTF">2026-10-06T12:36:35Z</dcterms:created>
  <dcterms:modified xsi:type="dcterms:W3CDTF">2026-10-06T12:36:35Z</dcterms:modified>
</cp:coreProperties>
</file>